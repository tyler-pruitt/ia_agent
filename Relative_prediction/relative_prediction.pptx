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 id="2147483690" r:id="rId3"/>
  </p:sldMasterIdLst>
  <p:notesMasterIdLst>
    <p:notesMasterId r:id="rId10"/>
  </p:notesMasterIdLst>
  <p:sldIdLst>
    <p:sldId id="291" r:id="rId4"/>
    <p:sldId id="640" r:id="rId5"/>
    <p:sldId id="639" r:id="rId6"/>
    <p:sldId id="641" r:id="rId7"/>
    <p:sldId id="638" r:id="rId8"/>
    <p:sldId id="1731"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素材" id="{548E6020-DE2C-4A43-8C4A-E92BE1952416}">
          <p14:sldIdLst>
            <p14:sldId id="291"/>
            <p14:sldId id="640"/>
            <p14:sldId id="639"/>
            <p14:sldId id="641"/>
            <p14:sldId id="638"/>
            <p14:sldId id="173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cmAuthor id="2" name="Fish Zheng" initials="F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9A0001"/>
    <a:srgbClr val="BFBFBF"/>
    <a:srgbClr val="CEAB6E"/>
    <a:srgbClr val="A6A6A6"/>
    <a:srgbClr val="B1B1B1"/>
    <a:srgbClr val="063771"/>
    <a:srgbClr val="222A35"/>
    <a:srgbClr val="A23341"/>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5" autoAdjust="0"/>
    <p:restoredTop sz="96070" autoAdjust="0"/>
  </p:normalViewPr>
  <p:slideViewPr>
    <p:cSldViewPr snapToGrid="0">
      <p:cViewPr>
        <p:scale>
          <a:sx n="111" d="100"/>
          <a:sy n="111" d="100"/>
        </p:scale>
        <p:origin x="560" y="272"/>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t>2026/6/10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A81DD-A946-EF90-AB57-0207684D8E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D2C690-956F-2D5A-1021-BF476526A8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D60462-987B-14A1-E9BD-031B32AF02B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483A1F0-2C73-3F62-0D9C-2D0C660DB5E0}"/>
              </a:ext>
            </a:extLst>
          </p:cNvPr>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26656300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p>
        </p:txBody>
      </p:sp>
      <p:pic>
        <p:nvPicPr>
          <p:cNvPr id="128" name="图形 127"/>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t>‹#›</a:t>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t>‹#›</a:t>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p>
        </p:txBody>
      </p:sp>
      <p:pic>
        <p:nvPicPr>
          <p:cNvPr id="128" name="图形 127"/>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t>‹#›</a:t>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t>‹#›</a:t>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theme" Target="../theme/theme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p:cNvSpPr>
            <a:spLocks noGrp="1"/>
          </p:cNvSpPr>
          <p:nvPr>
            <p:ph type="body" sz="quarter" idx="10"/>
          </p:nvPr>
        </p:nvSpPr>
        <p:spPr/>
        <p:txBody>
          <a:bodyPr/>
          <a:lstStyle/>
          <a:p>
            <a:r>
              <a:rPr lang="en-US" altLang="zh-CN" dirty="0">
                <a:sym typeface="Arial" panose="020B0604020202020204" pitchFamily="34" charset="0"/>
              </a:rPr>
              <a:t>02</a:t>
            </a:r>
            <a:endParaRPr lang="zh-CN" altLang="en-US" dirty="0">
              <a:sym typeface="Arial" panose="020B0604020202020204" pitchFamily="34" charset="0"/>
            </a:endParaRPr>
          </a:p>
        </p:txBody>
      </p:sp>
      <p:sp>
        <p:nvSpPr>
          <p:cNvPr id="19" name="文本占位符 18"/>
          <p:cNvSpPr>
            <a:spLocks noGrp="1"/>
          </p:cNvSpPr>
          <p:nvPr>
            <p:ph type="body" sz="quarter" idx="11"/>
          </p:nvPr>
        </p:nvSpPr>
        <p:spPr/>
        <p:txBody>
          <a:bodyPr/>
          <a:lstStyle/>
          <a:p>
            <a:r>
              <a:rPr lang="zh-CN" altLang="en-US" dirty="0">
                <a:sym typeface="Arial" panose="020B0604020202020204" pitchFamily="34" charset="0"/>
              </a:rPr>
              <a:t>相对估值</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ko-KR" dirty="0">
                <a:sym typeface="Arial" panose="020B0604020202020204" pitchFamily="34" charset="0"/>
              </a:rPr>
              <a:t>1</a:t>
            </a:r>
            <a:r>
              <a:rPr lang="en-US" altLang="zh-CN" dirty="0">
                <a:sym typeface="Arial" panose="020B0604020202020204" pitchFamily="34" charset="0"/>
              </a:rPr>
              <a:t>. </a:t>
            </a:r>
            <a:r>
              <a:rPr lang="zh-CN" altLang="en-US" dirty="0">
                <a:sym typeface="Arial" panose="020B0604020202020204" pitchFamily="34" charset="0"/>
              </a:rPr>
              <a:t>自动化相对估值流程</a:t>
            </a:r>
          </a:p>
        </p:txBody>
      </p:sp>
      <p:sp>
        <p:nvSpPr>
          <p:cNvPr id="2" name="灯片编号占位符 1"/>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t>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6" name="Shape 9">
            <a:extLst>
              <a:ext uri="{FF2B5EF4-FFF2-40B4-BE49-F238E27FC236}">
                <a16:creationId xmlns:a16="http://schemas.microsoft.com/office/drawing/2014/main" id="{9ECDC725-093C-6E73-9DD0-135C31F1C497}"/>
              </a:ext>
            </a:extLst>
          </p:cNvPr>
          <p:cNvSpPr/>
          <p:nvPr/>
        </p:nvSpPr>
        <p:spPr>
          <a:xfrm>
            <a:off x="659340" y="1301488"/>
            <a:ext cx="1508760" cy="384048"/>
          </a:xfrm>
          <a:prstGeom prst="roundRect">
            <a:avLst>
              <a:gd name="adj" fmla="val 19048"/>
            </a:avLst>
          </a:prstGeom>
          <a:solidFill>
            <a:srgbClr val="8C1D40"/>
          </a:solidFill>
          <a:ln w="12700">
            <a:solidFill>
              <a:srgbClr val="8C1D40"/>
            </a:solidFill>
            <a:prstDash val="solid"/>
          </a:ln>
        </p:spPr>
      </p:sp>
      <p:sp>
        <p:nvSpPr>
          <p:cNvPr id="7" name="Text 10">
            <a:extLst>
              <a:ext uri="{FF2B5EF4-FFF2-40B4-BE49-F238E27FC236}">
                <a16:creationId xmlns:a16="http://schemas.microsoft.com/office/drawing/2014/main" id="{2F0C70DF-5823-3C63-0986-2DAE6BB5347C}"/>
              </a:ext>
            </a:extLst>
          </p:cNvPr>
          <p:cNvSpPr/>
          <p:nvPr/>
        </p:nvSpPr>
        <p:spPr>
          <a:xfrm>
            <a:off x="714204" y="1347208"/>
            <a:ext cx="1399032" cy="292608"/>
          </a:xfrm>
          <a:prstGeom prst="rect">
            <a:avLst/>
          </a:prstGeom>
          <a:noFill/>
          <a:ln/>
        </p:spPr>
        <p:txBody>
          <a:bodyPr wrap="square" lIns="0" tIns="0" rIns="0" bIns="0" rtlCol="0" anchor="ctr">
            <a:normAutofit/>
          </a:bodyPr>
          <a:lstStyle/>
          <a:p>
            <a:pPr algn="ctr"/>
            <a:r>
              <a:rPr lang="ja-JP" altLang="en-US" b="1">
                <a:solidFill>
                  <a:srgbClr val="FFFFFF"/>
                </a:solidFill>
                <a:latin typeface="SimSun" panose="02010600030101010101" pitchFamily="2" charset="-122"/>
                <a:ea typeface="SimSun" panose="02010600030101010101" pitchFamily="2" charset="-122"/>
                <a:cs typeface="Noto Sans CJK SC" pitchFamily="34" charset="-120"/>
              </a:rPr>
              <a:t>自动化目标</a:t>
            </a:r>
            <a:endParaRPr lang="en-US" dirty="0">
              <a:latin typeface="SimSun" panose="02010600030101010101" pitchFamily="2" charset="-122"/>
              <a:ea typeface="SimSun" panose="02010600030101010101" pitchFamily="2" charset="-122"/>
            </a:endParaRPr>
          </a:p>
        </p:txBody>
      </p:sp>
      <p:sp>
        <p:nvSpPr>
          <p:cNvPr id="9" name="Text 11">
            <a:extLst>
              <a:ext uri="{FF2B5EF4-FFF2-40B4-BE49-F238E27FC236}">
                <a16:creationId xmlns:a16="http://schemas.microsoft.com/office/drawing/2014/main" id="{30AF43EE-366C-0D02-E245-D33FB0076623}"/>
              </a:ext>
            </a:extLst>
          </p:cNvPr>
          <p:cNvSpPr/>
          <p:nvPr/>
        </p:nvSpPr>
        <p:spPr>
          <a:xfrm>
            <a:off x="667119" y="1995291"/>
            <a:ext cx="4926434" cy="1993387"/>
          </a:xfrm>
          <a:prstGeom prst="rect">
            <a:avLst/>
          </a:prstGeom>
          <a:noFill/>
          <a:ln/>
        </p:spPr>
        <p:txBody>
          <a:bodyPr wrap="square" lIns="1016" tIns="1016" rIns="1016" bIns="1016" rtlCol="0" anchor="ctr">
            <a:normAutofit/>
          </a:bodyPr>
          <a:lstStyle/>
          <a:p>
            <a:pPr marL="0" indent="0">
              <a:buNone/>
            </a:pPr>
            <a:r>
              <a:rPr lang="ja-JP" altLang="en-US" sz="1600">
                <a:latin typeface="SimSun" panose="02010600030101010101" pitchFamily="2" charset="-122"/>
                <a:ea typeface="SimSun" panose="02010600030101010101" pitchFamily="2" charset="-122"/>
                <a:cs typeface="Arial" panose="020B0604020202020204" pitchFamily="34" charset="0"/>
              </a:rPr>
              <a:t>将相对估值中的人工判断环节系统化</a:t>
            </a:r>
            <a:endParaRPr lang="en-US" altLang="ja-JP" sz="1600" dirty="0">
              <a:latin typeface="SimSun" panose="02010600030101010101" pitchFamily="2" charset="-122"/>
              <a:ea typeface="SimSun" panose="02010600030101010101" pitchFamily="2" charset="-122"/>
              <a:cs typeface="Arial" panose="020B0604020202020204" pitchFamily="34" charset="0"/>
            </a:endParaRPr>
          </a:p>
          <a:p>
            <a:pPr marL="0" indent="0">
              <a:buNone/>
            </a:pPr>
            <a:endParaRPr lang="ja-JP" altLang="en-US" sz="1600">
              <a:latin typeface="SimSun" panose="02010600030101010101" pitchFamily="2" charset="-122"/>
              <a:ea typeface="SimSun" panose="02010600030101010101" pitchFamily="2" charset="-122"/>
              <a:cs typeface="Arial" panose="020B0604020202020204" pitchFamily="34" charset="0"/>
            </a:endParaRPr>
          </a:p>
          <a:p>
            <a:pPr marL="0" indent="0">
              <a:buNone/>
            </a:pPr>
            <a:r>
              <a:rPr lang="ja-JP" altLang="en-US" sz="1600">
                <a:latin typeface="SimSun" panose="02010600030101010101" pitchFamily="2" charset="-122"/>
                <a:ea typeface="SimSun" panose="02010600030101010101" pitchFamily="2" charset="-122"/>
                <a:cs typeface="Arial" panose="020B0604020202020204" pitchFamily="34" charset="0"/>
              </a:rPr>
              <a:t>系统综合业务相似性、财务结构相似性和规模相似性，自动完成 </a:t>
            </a:r>
            <a:r>
              <a:rPr lang="en-US" sz="1600" dirty="0">
                <a:latin typeface="SimSun" panose="02010600030101010101" pitchFamily="2" charset="-122"/>
                <a:ea typeface="SimSun" panose="02010600030101010101" pitchFamily="2" charset="-122"/>
                <a:cs typeface="Arial" panose="020B0604020202020204" pitchFamily="34" charset="0"/>
              </a:rPr>
              <a:t>peer selection </a:t>
            </a:r>
            <a:r>
              <a:rPr lang="ja-JP" altLang="en-US" sz="1600">
                <a:latin typeface="SimSun" panose="02010600030101010101" pitchFamily="2" charset="-122"/>
                <a:ea typeface="SimSun" panose="02010600030101010101" pitchFamily="2" charset="-122"/>
                <a:cs typeface="Arial" panose="020B0604020202020204" pitchFamily="34" charset="0"/>
              </a:rPr>
              <a:t>和 </a:t>
            </a:r>
            <a:r>
              <a:rPr lang="en-US" sz="1600" dirty="0">
                <a:latin typeface="SimSun" panose="02010600030101010101" pitchFamily="2" charset="-122"/>
                <a:ea typeface="SimSun" panose="02010600030101010101" pitchFamily="2" charset="-122"/>
                <a:cs typeface="Arial" panose="020B0604020202020204" pitchFamily="34" charset="0"/>
              </a:rPr>
              <a:t>multiple selection</a:t>
            </a:r>
          </a:p>
          <a:p>
            <a:pPr marL="0" indent="0">
              <a:buNone/>
            </a:pPr>
            <a:endParaRPr lang="en-US" sz="1600" dirty="0">
              <a:latin typeface="SimSun" panose="02010600030101010101" pitchFamily="2" charset="-122"/>
              <a:ea typeface="SimSun" panose="02010600030101010101" pitchFamily="2" charset="-122"/>
              <a:cs typeface="Arial" panose="020B0604020202020204" pitchFamily="34" charset="0"/>
            </a:endParaRPr>
          </a:p>
          <a:p>
            <a:pPr marL="0" indent="0">
              <a:buNone/>
            </a:pPr>
            <a:r>
              <a:rPr lang="ja-JP" altLang="en-US" sz="1600">
                <a:latin typeface="SimSun" panose="02010600030101010101" pitchFamily="2" charset="-122"/>
                <a:ea typeface="SimSun" panose="02010600030101010101" pitchFamily="2" charset="-122"/>
                <a:cs typeface="Arial" panose="020B0604020202020204" pitchFamily="34" charset="0"/>
              </a:rPr>
              <a:t>最终生成可解释的 </a:t>
            </a:r>
            <a:r>
              <a:rPr lang="en-US" sz="1600" dirty="0">
                <a:latin typeface="SimSun" panose="02010600030101010101" pitchFamily="2" charset="-122"/>
                <a:ea typeface="SimSun" panose="02010600030101010101" pitchFamily="2" charset="-122"/>
                <a:cs typeface="Arial" panose="020B0604020202020204" pitchFamily="34" charset="0"/>
              </a:rPr>
              <a:t>market-implied valuation signal</a:t>
            </a:r>
          </a:p>
        </p:txBody>
      </p:sp>
      <p:sp>
        <p:nvSpPr>
          <p:cNvPr id="14" name="Rectangle 13">
            <a:extLst>
              <a:ext uri="{FF2B5EF4-FFF2-40B4-BE49-F238E27FC236}">
                <a16:creationId xmlns:a16="http://schemas.microsoft.com/office/drawing/2014/main" id="{FFEFEC38-331A-04FD-23DD-F293949888F3}"/>
              </a:ext>
            </a:extLst>
          </p:cNvPr>
          <p:cNvSpPr/>
          <p:nvPr/>
        </p:nvSpPr>
        <p:spPr>
          <a:xfrm>
            <a:off x="7077308" y="902722"/>
            <a:ext cx="1438507" cy="398766"/>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rPr>
              <a:t>输入目标企业</a:t>
            </a:r>
          </a:p>
        </p:txBody>
      </p:sp>
      <p:cxnSp>
        <p:nvCxnSpPr>
          <p:cNvPr id="16" name="Straight Arrow Connector 15">
            <a:extLst>
              <a:ext uri="{FF2B5EF4-FFF2-40B4-BE49-F238E27FC236}">
                <a16:creationId xmlns:a16="http://schemas.microsoft.com/office/drawing/2014/main" id="{B2278245-23CD-99DC-3135-604A81A4FBBB}"/>
              </a:ext>
            </a:extLst>
          </p:cNvPr>
          <p:cNvCxnSpPr>
            <a:cxnSpLocks/>
          </p:cNvCxnSpPr>
          <p:nvPr/>
        </p:nvCxnSpPr>
        <p:spPr>
          <a:xfrm flipH="1">
            <a:off x="7799348" y="1303004"/>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10ADFCD-9683-6A93-4EF8-0251D0E4342C}"/>
              </a:ext>
            </a:extLst>
          </p:cNvPr>
          <p:cNvSpPr/>
          <p:nvPr/>
        </p:nvSpPr>
        <p:spPr>
          <a:xfrm>
            <a:off x="7089881" y="1506617"/>
            <a:ext cx="1424512" cy="379141"/>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rPr>
              <a:t>可比公司筛选</a:t>
            </a:r>
          </a:p>
        </p:txBody>
      </p:sp>
      <p:sp>
        <p:nvSpPr>
          <p:cNvPr id="20" name="Rectangle 19">
            <a:extLst>
              <a:ext uri="{FF2B5EF4-FFF2-40B4-BE49-F238E27FC236}">
                <a16:creationId xmlns:a16="http://schemas.microsoft.com/office/drawing/2014/main" id="{72A631D1-93AF-67D7-5638-9AE6F0243687}"/>
              </a:ext>
            </a:extLst>
          </p:cNvPr>
          <p:cNvSpPr/>
          <p:nvPr/>
        </p:nvSpPr>
        <p:spPr>
          <a:xfrm>
            <a:off x="6096000" y="2266238"/>
            <a:ext cx="914400" cy="281007"/>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100" dirty="0">
                <a:solidFill>
                  <a:schemeClr val="tx1"/>
                </a:solidFill>
                <a:latin typeface="STKaiti" panose="02010600040101010101" pitchFamily="2" charset="-122"/>
                <a:ea typeface="STKaiti" panose="02010600040101010101" pitchFamily="2" charset="-122"/>
              </a:rPr>
              <a:t>业务相似性</a:t>
            </a:r>
          </a:p>
        </p:txBody>
      </p:sp>
      <p:sp>
        <p:nvSpPr>
          <p:cNvPr id="21" name="Rectangle 20">
            <a:extLst>
              <a:ext uri="{FF2B5EF4-FFF2-40B4-BE49-F238E27FC236}">
                <a16:creationId xmlns:a16="http://schemas.microsoft.com/office/drawing/2014/main" id="{8712F494-6757-ED58-5157-5E31D769ACFA}"/>
              </a:ext>
            </a:extLst>
          </p:cNvPr>
          <p:cNvSpPr/>
          <p:nvPr/>
        </p:nvSpPr>
        <p:spPr>
          <a:xfrm>
            <a:off x="7233425" y="2266239"/>
            <a:ext cx="1137424" cy="303344"/>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050" dirty="0">
                <a:solidFill>
                  <a:schemeClr val="tx1"/>
                </a:solidFill>
                <a:latin typeface="STKaiti" panose="02010600040101010101" pitchFamily="2" charset="-122"/>
                <a:ea typeface="STKaiti" panose="02010600040101010101" pitchFamily="2" charset="-122"/>
              </a:rPr>
              <a:t>财务结构相似性</a:t>
            </a:r>
          </a:p>
        </p:txBody>
      </p:sp>
      <p:sp>
        <p:nvSpPr>
          <p:cNvPr id="22" name="Rectangle 21">
            <a:extLst>
              <a:ext uri="{FF2B5EF4-FFF2-40B4-BE49-F238E27FC236}">
                <a16:creationId xmlns:a16="http://schemas.microsoft.com/office/drawing/2014/main" id="{AC2032EA-D7C1-1ADD-A236-235581D885D5}"/>
              </a:ext>
            </a:extLst>
          </p:cNvPr>
          <p:cNvSpPr/>
          <p:nvPr/>
        </p:nvSpPr>
        <p:spPr>
          <a:xfrm>
            <a:off x="8593874" y="2277389"/>
            <a:ext cx="1003610" cy="292193"/>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200" dirty="0">
                <a:solidFill>
                  <a:schemeClr val="tx1"/>
                </a:solidFill>
                <a:latin typeface="STKaiti" panose="02010600040101010101" pitchFamily="2" charset="-122"/>
                <a:ea typeface="STKaiti" panose="02010600040101010101" pitchFamily="2" charset="-122"/>
              </a:rPr>
              <a:t>规模相似性</a:t>
            </a:r>
          </a:p>
        </p:txBody>
      </p:sp>
      <p:cxnSp>
        <p:nvCxnSpPr>
          <p:cNvPr id="24" name="Straight Arrow Connector 23">
            <a:extLst>
              <a:ext uri="{FF2B5EF4-FFF2-40B4-BE49-F238E27FC236}">
                <a16:creationId xmlns:a16="http://schemas.microsoft.com/office/drawing/2014/main" id="{1DC2B027-F34A-C3C2-DA09-D4EEDAE9B7DB}"/>
              </a:ext>
            </a:extLst>
          </p:cNvPr>
          <p:cNvCxnSpPr>
            <a:cxnSpLocks/>
            <a:stCxn id="18" idx="2"/>
            <a:endCxn id="21" idx="0"/>
          </p:cNvCxnSpPr>
          <p:nvPr/>
        </p:nvCxnSpPr>
        <p:spPr>
          <a:xfrm>
            <a:off x="7802137" y="1885758"/>
            <a:ext cx="0" cy="38048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E73CEFDE-9608-EBB5-913C-B98D54640DE0}"/>
              </a:ext>
            </a:extLst>
          </p:cNvPr>
          <p:cNvCxnSpPr>
            <a:cxnSpLocks/>
          </p:cNvCxnSpPr>
          <p:nvPr/>
        </p:nvCxnSpPr>
        <p:spPr>
          <a:xfrm>
            <a:off x="6532757" y="2052358"/>
            <a:ext cx="9292" cy="2138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0EDF05A-E03F-96E3-9088-71821AFE4FAC}"/>
              </a:ext>
            </a:extLst>
          </p:cNvPr>
          <p:cNvCxnSpPr>
            <a:cxnSpLocks/>
            <a:endCxn id="22" idx="0"/>
          </p:cNvCxnSpPr>
          <p:nvPr/>
        </p:nvCxnSpPr>
        <p:spPr>
          <a:xfrm>
            <a:off x="9095679" y="2052358"/>
            <a:ext cx="0" cy="225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4F2084F-FDA7-08C6-00EA-AA13BF3922EA}"/>
              </a:ext>
            </a:extLst>
          </p:cNvPr>
          <p:cNvCxnSpPr>
            <a:cxnSpLocks/>
          </p:cNvCxnSpPr>
          <p:nvPr/>
        </p:nvCxnSpPr>
        <p:spPr>
          <a:xfrm>
            <a:off x="6542049" y="2052358"/>
            <a:ext cx="25536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61C19BE0-C4A9-8EEE-C5DE-ABC6E2EB47D6}"/>
              </a:ext>
            </a:extLst>
          </p:cNvPr>
          <p:cNvSpPr/>
          <p:nvPr/>
        </p:nvSpPr>
        <p:spPr>
          <a:xfrm>
            <a:off x="7121911" y="2769611"/>
            <a:ext cx="1354871" cy="281009"/>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rPr>
              <a:t>选估值倍数</a:t>
            </a:r>
          </a:p>
        </p:txBody>
      </p:sp>
      <p:sp>
        <p:nvSpPr>
          <p:cNvPr id="44" name="Rectangle 43">
            <a:extLst>
              <a:ext uri="{FF2B5EF4-FFF2-40B4-BE49-F238E27FC236}">
                <a16:creationId xmlns:a16="http://schemas.microsoft.com/office/drawing/2014/main" id="{C1FA0564-2AAE-D379-ABD2-7515351B92AF}"/>
              </a:ext>
            </a:extLst>
          </p:cNvPr>
          <p:cNvSpPr/>
          <p:nvPr/>
        </p:nvSpPr>
        <p:spPr>
          <a:xfrm>
            <a:off x="6300355" y="3382801"/>
            <a:ext cx="500111" cy="224737"/>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050" dirty="0">
                <a:solidFill>
                  <a:schemeClr val="tx1"/>
                </a:solidFill>
                <a:latin typeface="STKaiti" panose="02010600040101010101" pitchFamily="2" charset="-122"/>
                <a:ea typeface="STKaiti" panose="02010600040101010101" pitchFamily="2" charset="-122"/>
              </a:rPr>
              <a:t>P/E</a:t>
            </a:r>
          </a:p>
        </p:txBody>
      </p:sp>
      <p:cxnSp>
        <p:nvCxnSpPr>
          <p:cNvPr id="46" name="Straight Arrow Connector 45">
            <a:extLst>
              <a:ext uri="{FF2B5EF4-FFF2-40B4-BE49-F238E27FC236}">
                <a16:creationId xmlns:a16="http://schemas.microsoft.com/office/drawing/2014/main" id="{79C41434-BB72-7631-8FE4-7BEE32DBDA96}"/>
              </a:ext>
            </a:extLst>
          </p:cNvPr>
          <p:cNvCxnSpPr>
            <a:cxnSpLocks/>
          </p:cNvCxnSpPr>
          <p:nvPr/>
        </p:nvCxnSpPr>
        <p:spPr>
          <a:xfrm flipH="1">
            <a:off x="7799347" y="2575406"/>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7ADA091-DBEE-2970-1B29-755F317F4DBD}"/>
              </a:ext>
            </a:extLst>
          </p:cNvPr>
          <p:cNvCxnSpPr>
            <a:cxnSpLocks/>
            <a:stCxn id="43" idx="2"/>
          </p:cNvCxnSpPr>
          <p:nvPr/>
        </p:nvCxnSpPr>
        <p:spPr>
          <a:xfrm>
            <a:off x="7799347" y="3050620"/>
            <a:ext cx="0" cy="125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6BB7227-6DC9-9371-FE7C-A09E370C9F39}"/>
              </a:ext>
            </a:extLst>
          </p:cNvPr>
          <p:cNvCxnSpPr>
            <a:cxnSpLocks/>
          </p:cNvCxnSpPr>
          <p:nvPr/>
        </p:nvCxnSpPr>
        <p:spPr>
          <a:xfrm>
            <a:off x="6553200" y="3171633"/>
            <a:ext cx="25898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F996174-CD40-2BE0-6F9D-C715771D0F91}"/>
              </a:ext>
            </a:extLst>
          </p:cNvPr>
          <p:cNvCxnSpPr>
            <a:cxnSpLocks/>
          </p:cNvCxnSpPr>
          <p:nvPr/>
        </p:nvCxnSpPr>
        <p:spPr>
          <a:xfrm flipH="1">
            <a:off x="6550411" y="3178582"/>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9823EA4-8E70-456F-82A1-1DB815E6EA49}"/>
              </a:ext>
            </a:extLst>
          </p:cNvPr>
          <p:cNvCxnSpPr>
            <a:cxnSpLocks/>
          </p:cNvCxnSpPr>
          <p:nvPr/>
        </p:nvCxnSpPr>
        <p:spPr>
          <a:xfrm flipH="1">
            <a:off x="9131922" y="3175836"/>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F4E9B99-264F-7603-C9C8-DBCA0B9FDA2F}"/>
              </a:ext>
            </a:extLst>
          </p:cNvPr>
          <p:cNvCxnSpPr>
            <a:cxnSpLocks/>
          </p:cNvCxnSpPr>
          <p:nvPr/>
        </p:nvCxnSpPr>
        <p:spPr>
          <a:xfrm flipH="1">
            <a:off x="7387694" y="3185472"/>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FED0736-7199-FC90-9D55-8F5364D30CB5}"/>
              </a:ext>
            </a:extLst>
          </p:cNvPr>
          <p:cNvCxnSpPr>
            <a:cxnSpLocks/>
          </p:cNvCxnSpPr>
          <p:nvPr/>
        </p:nvCxnSpPr>
        <p:spPr>
          <a:xfrm flipH="1">
            <a:off x="8258397" y="3187764"/>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E2BD1BCA-89D7-1105-3323-779590D87CC8}"/>
              </a:ext>
            </a:extLst>
          </p:cNvPr>
          <p:cNvSpPr/>
          <p:nvPr/>
        </p:nvSpPr>
        <p:spPr>
          <a:xfrm>
            <a:off x="7156303" y="3388656"/>
            <a:ext cx="500111" cy="224737"/>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050" dirty="0">
                <a:solidFill>
                  <a:schemeClr val="tx1"/>
                </a:solidFill>
                <a:latin typeface="STKaiti" panose="02010600040101010101" pitchFamily="2" charset="-122"/>
                <a:ea typeface="STKaiti" panose="02010600040101010101" pitchFamily="2" charset="-122"/>
              </a:rPr>
              <a:t>P/B</a:t>
            </a:r>
          </a:p>
        </p:txBody>
      </p:sp>
      <p:sp>
        <p:nvSpPr>
          <p:cNvPr id="58" name="Rectangle 57">
            <a:extLst>
              <a:ext uri="{FF2B5EF4-FFF2-40B4-BE49-F238E27FC236}">
                <a16:creationId xmlns:a16="http://schemas.microsoft.com/office/drawing/2014/main" id="{97EAACEF-A4B4-6BF0-582B-4E4D60A53BD2}"/>
              </a:ext>
            </a:extLst>
          </p:cNvPr>
          <p:cNvSpPr/>
          <p:nvPr/>
        </p:nvSpPr>
        <p:spPr>
          <a:xfrm>
            <a:off x="8015888" y="3387619"/>
            <a:ext cx="500111" cy="224737"/>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050" dirty="0">
                <a:solidFill>
                  <a:schemeClr val="tx1"/>
                </a:solidFill>
                <a:latin typeface="STKaiti" panose="02010600040101010101" pitchFamily="2" charset="-122"/>
                <a:ea typeface="STKaiti" panose="02010600040101010101" pitchFamily="2" charset="-122"/>
              </a:rPr>
              <a:t>P/S</a:t>
            </a:r>
          </a:p>
        </p:txBody>
      </p:sp>
      <p:sp>
        <p:nvSpPr>
          <p:cNvPr id="59" name="Rectangle 58">
            <a:extLst>
              <a:ext uri="{FF2B5EF4-FFF2-40B4-BE49-F238E27FC236}">
                <a16:creationId xmlns:a16="http://schemas.microsoft.com/office/drawing/2014/main" id="{B5558A09-8E7D-7191-1940-8B58D80501DA}"/>
              </a:ext>
            </a:extLst>
          </p:cNvPr>
          <p:cNvSpPr/>
          <p:nvPr/>
        </p:nvSpPr>
        <p:spPr>
          <a:xfrm>
            <a:off x="8642962" y="3382800"/>
            <a:ext cx="940577" cy="226304"/>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050" dirty="0">
                <a:solidFill>
                  <a:schemeClr val="tx1"/>
                </a:solidFill>
                <a:latin typeface="STKaiti" panose="02010600040101010101" pitchFamily="2" charset="-122"/>
                <a:ea typeface="STKaiti" panose="02010600040101010101" pitchFamily="2" charset="-122"/>
              </a:rPr>
              <a:t>EV/EBITDA</a:t>
            </a:r>
          </a:p>
        </p:txBody>
      </p:sp>
      <p:sp>
        <p:nvSpPr>
          <p:cNvPr id="60" name="Right Brace 59">
            <a:extLst>
              <a:ext uri="{FF2B5EF4-FFF2-40B4-BE49-F238E27FC236}">
                <a16:creationId xmlns:a16="http://schemas.microsoft.com/office/drawing/2014/main" id="{D6B954CE-546C-A042-77E2-D25C41169195}"/>
              </a:ext>
            </a:extLst>
          </p:cNvPr>
          <p:cNvSpPr/>
          <p:nvPr/>
        </p:nvSpPr>
        <p:spPr>
          <a:xfrm rot="5400000">
            <a:off x="7660383" y="2486787"/>
            <a:ext cx="355063" cy="2610316"/>
          </a:xfrm>
          <a:prstGeom prst="rightBrace">
            <a:avLst>
              <a:gd name="adj1" fmla="val 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cxnSp>
        <p:nvCxnSpPr>
          <p:cNvPr id="62" name="Straight Connector 61">
            <a:extLst>
              <a:ext uri="{FF2B5EF4-FFF2-40B4-BE49-F238E27FC236}">
                <a16:creationId xmlns:a16="http://schemas.microsoft.com/office/drawing/2014/main" id="{5DDB2FE2-D1F2-ED62-5BFC-F7529B49040B}"/>
              </a:ext>
            </a:extLst>
          </p:cNvPr>
          <p:cNvCxnSpPr>
            <a:cxnSpLocks/>
            <a:stCxn id="57" idx="2"/>
          </p:cNvCxnSpPr>
          <p:nvPr/>
        </p:nvCxnSpPr>
        <p:spPr>
          <a:xfrm>
            <a:off x="7406359" y="3613393"/>
            <a:ext cx="0" cy="1783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E34A5A-FECB-B36A-F9A5-0453D3F648C5}"/>
              </a:ext>
            </a:extLst>
          </p:cNvPr>
          <p:cNvCxnSpPr>
            <a:cxnSpLocks/>
          </p:cNvCxnSpPr>
          <p:nvPr/>
        </p:nvCxnSpPr>
        <p:spPr>
          <a:xfrm>
            <a:off x="8258397" y="3614413"/>
            <a:ext cx="0" cy="1783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83937CE9-02E6-0AC7-1BA8-78ADC6DDA462}"/>
              </a:ext>
            </a:extLst>
          </p:cNvPr>
          <p:cNvSpPr/>
          <p:nvPr/>
        </p:nvSpPr>
        <p:spPr>
          <a:xfrm>
            <a:off x="7104667" y="3988678"/>
            <a:ext cx="1464254" cy="358543"/>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STKaiti" panose="02010600040101010101" pitchFamily="2" charset="-122"/>
                <a:ea typeface="STKaiti" panose="02010600040101010101" pitchFamily="2" charset="-122"/>
                <a:cs typeface="Arial" panose="020B0604020202020204" pitchFamily="34" charset="0"/>
              </a:rPr>
              <a:t>估值倍数预测</a:t>
            </a:r>
            <a:endPar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endParaRPr>
          </a:p>
        </p:txBody>
      </p:sp>
      <p:sp>
        <p:nvSpPr>
          <p:cNvPr id="68" name="Rectangle 67">
            <a:extLst>
              <a:ext uri="{FF2B5EF4-FFF2-40B4-BE49-F238E27FC236}">
                <a16:creationId xmlns:a16="http://schemas.microsoft.com/office/drawing/2014/main" id="{5217A567-44C8-6972-37B3-1D9F68281FFA}"/>
              </a:ext>
            </a:extLst>
          </p:cNvPr>
          <p:cNvSpPr/>
          <p:nvPr/>
        </p:nvSpPr>
        <p:spPr>
          <a:xfrm>
            <a:off x="6929187" y="4493212"/>
            <a:ext cx="1815213" cy="355064"/>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STKaiti" panose="02010600040101010101" pitchFamily="2" charset="-122"/>
                <a:ea typeface="STKaiti" panose="02010600040101010101" pitchFamily="2" charset="-122"/>
                <a:cs typeface="Arial" panose="020B0604020202020204" pitchFamily="34" charset="0"/>
              </a:rPr>
              <a:t>可比公司倍数锚点</a:t>
            </a:r>
            <a:endPar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endParaRPr>
          </a:p>
        </p:txBody>
      </p:sp>
      <p:cxnSp>
        <p:nvCxnSpPr>
          <p:cNvPr id="70" name="Straight Arrow Connector 69">
            <a:extLst>
              <a:ext uri="{FF2B5EF4-FFF2-40B4-BE49-F238E27FC236}">
                <a16:creationId xmlns:a16="http://schemas.microsoft.com/office/drawing/2014/main" id="{B9CF7F0C-0D99-CAD3-B6CC-E3B2315D5603}"/>
              </a:ext>
            </a:extLst>
          </p:cNvPr>
          <p:cNvCxnSpPr>
            <a:cxnSpLocks/>
          </p:cNvCxnSpPr>
          <p:nvPr/>
        </p:nvCxnSpPr>
        <p:spPr>
          <a:xfrm flipH="1">
            <a:off x="7836794" y="3793026"/>
            <a:ext cx="2789" cy="196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2DD9A19-B97B-09DE-4EF2-BDDB3883223D}"/>
              </a:ext>
            </a:extLst>
          </p:cNvPr>
          <p:cNvCxnSpPr>
            <a:cxnSpLocks/>
            <a:stCxn id="66" idx="2"/>
            <a:endCxn id="68" idx="0"/>
          </p:cNvCxnSpPr>
          <p:nvPr/>
        </p:nvCxnSpPr>
        <p:spPr>
          <a:xfrm>
            <a:off x="7836794" y="4347221"/>
            <a:ext cx="0" cy="1459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9" name="Rectangle 88">
                <a:extLst>
                  <a:ext uri="{FF2B5EF4-FFF2-40B4-BE49-F238E27FC236}">
                    <a16:creationId xmlns:a16="http://schemas.microsoft.com/office/drawing/2014/main" id="{635CCCCB-21B7-6859-1509-2452ECAB3C1C}"/>
                  </a:ext>
                </a:extLst>
              </p:cNvPr>
              <p:cNvSpPr/>
              <p:nvPr/>
            </p:nvSpPr>
            <p:spPr>
              <a:xfrm>
                <a:off x="6531634" y="5016947"/>
                <a:ext cx="2610317" cy="355064"/>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STKaiti" panose="02010600040101010101" pitchFamily="2" charset="-122"/>
                    <a:ea typeface="STKaiti" panose="02010600040101010101" pitchFamily="2" charset="-122"/>
                    <a:cs typeface="Arial" panose="020B0604020202020204" pitchFamily="34" charset="0"/>
                  </a:rPr>
                  <a:t>模型预测值</a:t>
                </a:r>
                <a14:m>
                  <m:oMath xmlns:m="http://schemas.openxmlformats.org/officeDocument/2006/math">
                    <m:r>
                      <a:rPr lang="en-US" altLang="zh-CN"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altLang="zh-CN" sz="1600" dirty="0">
                    <a:solidFill>
                      <a:schemeClr val="tx1"/>
                    </a:solidFill>
                    <a:latin typeface="STKaiti" panose="02010600040101010101" pitchFamily="2" charset="-122"/>
                    <a:ea typeface="STKaiti" panose="02010600040101010101" pitchFamily="2" charset="-122"/>
                    <a:cs typeface="Arial" panose="020B0604020202020204" pitchFamily="34" charset="0"/>
                  </a:rPr>
                  <a:t>Peer</a:t>
                </a:r>
                <a:r>
                  <a:rPr lang="zh-CN" altLang="en-CN" sz="1600" dirty="0">
                    <a:solidFill>
                      <a:schemeClr val="tx1"/>
                    </a:solidFill>
                    <a:latin typeface="STKaiti" panose="02010600040101010101" pitchFamily="2" charset="-122"/>
                    <a:ea typeface="STKaiti" panose="02010600040101010101" pitchFamily="2" charset="-122"/>
                    <a:cs typeface="Arial" panose="020B0604020202020204" pitchFamily="34" charset="0"/>
                  </a:rPr>
                  <a:t>市场倍</a:t>
                </a:r>
                <a:r>
                  <a:rPr lang="zh-CN" altLang="en-US" sz="1600" dirty="0">
                    <a:solidFill>
                      <a:schemeClr val="tx1"/>
                    </a:solidFill>
                    <a:latin typeface="STKaiti" panose="02010600040101010101" pitchFamily="2" charset="-122"/>
                    <a:ea typeface="STKaiti" panose="02010600040101010101" pitchFamily="2" charset="-122"/>
                    <a:cs typeface="Arial" panose="020B0604020202020204" pitchFamily="34" charset="0"/>
                  </a:rPr>
                  <a:t>数</a:t>
                </a:r>
                <a:endPar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endParaRPr>
              </a:p>
            </p:txBody>
          </p:sp>
        </mc:Choice>
        <mc:Fallback>
          <p:sp>
            <p:nvSpPr>
              <p:cNvPr id="89" name="Rectangle 88">
                <a:extLst>
                  <a:ext uri="{FF2B5EF4-FFF2-40B4-BE49-F238E27FC236}">
                    <a16:creationId xmlns:a16="http://schemas.microsoft.com/office/drawing/2014/main" id="{635CCCCB-21B7-6859-1509-2452ECAB3C1C}"/>
                  </a:ext>
                </a:extLst>
              </p:cNvPr>
              <p:cNvSpPr>
                <a:spLocks noRot="1" noChangeAspect="1" noMove="1" noResize="1" noEditPoints="1" noAdjustHandles="1" noChangeArrowheads="1" noChangeShapeType="1" noTextEdit="1"/>
              </p:cNvSpPr>
              <p:nvPr/>
            </p:nvSpPr>
            <p:spPr>
              <a:xfrm>
                <a:off x="6531634" y="5016947"/>
                <a:ext cx="2610317" cy="355064"/>
              </a:xfrm>
              <a:prstGeom prst="rect">
                <a:avLst/>
              </a:prstGeom>
              <a:blipFill>
                <a:blip r:embed="rId3"/>
                <a:stretch>
                  <a:fillRect t="-3333" b="-16667"/>
                </a:stretch>
              </a:blipFill>
              <a:ln>
                <a:solidFill>
                  <a:schemeClr val="tx1"/>
                </a:solidFill>
              </a:ln>
            </p:spPr>
            <p:txBody>
              <a:bodyPr/>
              <a:lstStyle/>
              <a:p>
                <a:r>
                  <a:rPr lang="en-CN">
                    <a:noFill/>
                  </a:rPr>
                  <a:t> </a:t>
                </a:r>
              </a:p>
            </p:txBody>
          </p:sp>
        </mc:Fallback>
      </mc:AlternateContent>
      <p:cxnSp>
        <p:nvCxnSpPr>
          <p:cNvPr id="90" name="Straight Arrow Connector 89">
            <a:extLst>
              <a:ext uri="{FF2B5EF4-FFF2-40B4-BE49-F238E27FC236}">
                <a16:creationId xmlns:a16="http://schemas.microsoft.com/office/drawing/2014/main" id="{BF7C5D5B-D98F-47AB-504C-0A53808351C3}"/>
              </a:ext>
            </a:extLst>
          </p:cNvPr>
          <p:cNvCxnSpPr>
            <a:cxnSpLocks/>
            <a:stCxn id="68" idx="2"/>
            <a:endCxn id="89" idx="0"/>
          </p:cNvCxnSpPr>
          <p:nvPr/>
        </p:nvCxnSpPr>
        <p:spPr>
          <a:xfrm flipH="1">
            <a:off x="7836793" y="4848276"/>
            <a:ext cx="1" cy="1686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07903216-94A1-9965-1555-EBE37B5B0ED9}"/>
              </a:ext>
            </a:extLst>
          </p:cNvPr>
          <p:cNvSpPr/>
          <p:nvPr/>
        </p:nvSpPr>
        <p:spPr>
          <a:xfrm>
            <a:off x="7293441" y="5540682"/>
            <a:ext cx="1086702" cy="355064"/>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STKaiti" panose="02010600040101010101" pitchFamily="2" charset="-122"/>
                <a:ea typeface="STKaiti" panose="02010600040101010101" pitchFamily="2" charset="-122"/>
                <a:cs typeface="Arial" panose="020B0604020202020204" pitchFamily="34" charset="0"/>
              </a:rPr>
              <a:t>估值输出</a:t>
            </a:r>
            <a:endParaRPr lang="en-CN" sz="1600" dirty="0">
              <a:solidFill>
                <a:schemeClr val="tx1"/>
              </a:solidFill>
              <a:latin typeface="STKaiti" panose="02010600040101010101" pitchFamily="2" charset="-122"/>
              <a:ea typeface="STKaiti" panose="02010600040101010101" pitchFamily="2" charset="-122"/>
              <a:cs typeface="Arial" panose="020B0604020202020204" pitchFamily="34" charset="0"/>
            </a:endParaRPr>
          </a:p>
        </p:txBody>
      </p:sp>
      <p:cxnSp>
        <p:nvCxnSpPr>
          <p:cNvPr id="104" name="Straight Arrow Connector 103">
            <a:extLst>
              <a:ext uri="{FF2B5EF4-FFF2-40B4-BE49-F238E27FC236}">
                <a16:creationId xmlns:a16="http://schemas.microsoft.com/office/drawing/2014/main" id="{1A3E0997-9202-8238-0DAC-1DB42B8F8102}"/>
              </a:ext>
            </a:extLst>
          </p:cNvPr>
          <p:cNvCxnSpPr>
            <a:cxnSpLocks/>
            <a:stCxn id="89" idx="2"/>
            <a:endCxn id="103" idx="0"/>
          </p:cNvCxnSpPr>
          <p:nvPr/>
        </p:nvCxnSpPr>
        <p:spPr>
          <a:xfrm flipH="1">
            <a:off x="7836792" y="5372011"/>
            <a:ext cx="1" cy="1686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Right Brace 107">
            <a:extLst>
              <a:ext uri="{FF2B5EF4-FFF2-40B4-BE49-F238E27FC236}">
                <a16:creationId xmlns:a16="http://schemas.microsoft.com/office/drawing/2014/main" id="{3B7AD73A-C660-443E-51C1-CC3E1DA41BF5}"/>
              </a:ext>
            </a:extLst>
          </p:cNvPr>
          <p:cNvSpPr/>
          <p:nvPr/>
        </p:nvSpPr>
        <p:spPr>
          <a:xfrm rot="16200000">
            <a:off x="7772076" y="5154265"/>
            <a:ext cx="152121" cy="164883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09" name="Rectangle 108">
            <a:extLst>
              <a:ext uri="{FF2B5EF4-FFF2-40B4-BE49-F238E27FC236}">
                <a16:creationId xmlns:a16="http://schemas.microsoft.com/office/drawing/2014/main" id="{5CC44142-962B-9179-ED23-2294C1FCCC94}"/>
              </a:ext>
            </a:extLst>
          </p:cNvPr>
          <p:cNvSpPr/>
          <p:nvPr/>
        </p:nvSpPr>
        <p:spPr>
          <a:xfrm>
            <a:off x="5856790" y="6091009"/>
            <a:ext cx="2072293" cy="281007"/>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400" dirty="0">
                <a:solidFill>
                  <a:schemeClr val="tx1"/>
                </a:solidFill>
                <a:latin typeface="STKaiti" panose="02010600040101010101" pitchFamily="2" charset="-122"/>
                <a:ea typeface="STKaiti" panose="02010600040101010101" pitchFamily="2" charset="-122"/>
              </a:rPr>
              <a:t>Undervalued/Overvalued</a:t>
            </a:r>
          </a:p>
        </p:txBody>
      </p:sp>
      <p:sp>
        <p:nvSpPr>
          <p:cNvPr id="110" name="Rectangle 109">
            <a:extLst>
              <a:ext uri="{FF2B5EF4-FFF2-40B4-BE49-F238E27FC236}">
                <a16:creationId xmlns:a16="http://schemas.microsoft.com/office/drawing/2014/main" id="{DED30713-C9CF-2B59-3243-9D4695B257E1}"/>
              </a:ext>
            </a:extLst>
          </p:cNvPr>
          <p:cNvSpPr/>
          <p:nvPr/>
        </p:nvSpPr>
        <p:spPr>
          <a:xfrm>
            <a:off x="8175688" y="6091009"/>
            <a:ext cx="1137424" cy="303344"/>
          </a:xfrm>
          <a:prstGeom prst="rect">
            <a:avLst/>
          </a:prstGeom>
          <a:solidFill>
            <a:srgbClr val="DCDC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400" dirty="0">
                <a:solidFill>
                  <a:schemeClr val="tx1"/>
                </a:solidFill>
                <a:latin typeface="STKaiti" panose="02010600040101010101" pitchFamily="2" charset="-122"/>
                <a:ea typeface="STKaiti" panose="02010600040101010101" pitchFamily="2" charset="-122"/>
              </a:rPr>
              <a:t>Confidence</a:t>
            </a:r>
          </a:p>
        </p:txBody>
      </p:sp>
      <p:cxnSp>
        <p:nvCxnSpPr>
          <p:cNvPr id="124" name="Straight Arrow Connector 123">
            <a:extLst>
              <a:ext uri="{FF2B5EF4-FFF2-40B4-BE49-F238E27FC236}">
                <a16:creationId xmlns:a16="http://schemas.microsoft.com/office/drawing/2014/main" id="{CAFD3BEA-7E68-E645-92BB-2BBB037EE42C}"/>
              </a:ext>
            </a:extLst>
          </p:cNvPr>
          <p:cNvCxnSpPr>
            <a:cxnSpLocks/>
          </p:cNvCxnSpPr>
          <p:nvPr/>
        </p:nvCxnSpPr>
        <p:spPr>
          <a:xfrm>
            <a:off x="7023720" y="5996867"/>
            <a:ext cx="0" cy="98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004CAE3-D1F9-9A35-AC9E-52F030241CD3}"/>
              </a:ext>
            </a:extLst>
          </p:cNvPr>
          <p:cNvCxnSpPr>
            <a:cxnSpLocks/>
          </p:cNvCxnSpPr>
          <p:nvPr/>
        </p:nvCxnSpPr>
        <p:spPr>
          <a:xfrm>
            <a:off x="8669251" y="5998796"/>
            <a:ext cx="0" cy="98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t>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2" name="标题 1"/>
          <p:cNvSpPr>
            <a:spLocks noGrp="1"/>
          </p:cNvSpPr>
          <p:nvPr>
            <p:ph type="title"/>
          </p:nvPr>
        </p:nvSpPr>
        <p:spPr/>
        <p:txBody>
          <a:bodyPr>
            <a:normAutofit/>
          </a:bodyPr>
          <a:lstStyle/>
          <a:p>
            <a:r>
              <a:rPr lang="en-US" altLang="zh-CN" dirty="0">
                <a:sym typeface="Arial" panose="020B0604020202020204" pitchFamily="34" charset="0"/>
              </a:rPr>
              <a:t>Step 1</a:t>
            </a:r>
            <a:r>
              <a:rPr lang="zh-CN" altLang="en-US" dirty="0">
                <a:sym typeface="Arial" panose="020B0604020202020204" pitchFamily="34" charset="0"/>
              </a:rPr>
              <a:t>：</a:t>
            </a:r>
            <a:r>
              <a:rPr lang="en-US" altLang="zh-CN" dirty="0">
                <a:sym typeface="Arial" panose="020B0604020202020204" pitchFamily="34" charset="0"/>
              </a:rPr>
              <a:t>Comparable Company Selection</a:t>
            </a:r>
            <a:endParaRPr lang="zh-CN" altLang="en-US" dirty="0">
              <a:sym typeface="Arial" panose="020B0604020202020204" pitchFamily="34" charset="0"/>
            </a:endParaRPr>
          </a:p>
        </p:txBody>
      </p:sp>
      <p:sp>
        <p:nvSpPr>
          <p:cNvPr id="7" name="Text 9">
            <a:extLst>
              <a:ext uri="{FF2B5EF4-FFF2-40B4-BE49-F238E27FC236}">
                <a16:creationId xmlns:a16="http://schemas.microsoft.com/office/drawing/2014/main" id="{DA21BF0F-D114-406D-B5C6-6B5C94A56593}"/>
              </a:ext>
            </a:extLst>
          </p:cNvPr>
          <p:cNvSpPr/>
          <p:nvPr/>
        </p:nvSpPr>
        <p:spPr>
          <a:xfrm>
            <a:off x="868680" y="1272567"/>
            <a:ext cx="2194560" cy="320040"/>
          </a:xfrm>
          <a:prstGeom prst="rect">
            <a:avLst/>
          </a:prstGeom>
          <a:noFill/>
          <a:ln/>
        </p:spPr>
        <p:txBody>
          <a:bodyPr wrap="square" lIns="0" tIns="0" rIns="0" bIns="0" rtlCol="0" anchor="ctr">
            <a:normAutofit/>
          </a:bodyPr>
          <a:lstStyle/>
          <a:p>
            <a:pPr marL="0" indent="0">
              <a:buNone/>
            </a:pP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最终 similarity score</a:t>
            </a:r>
            <a:endParaRPr lang="en-US" sz="1600" dirty="0">
              <a:latin typeface="SimSun" panose="02010600030101010101" pitchFamily="2" charset="-122"/>
              <a:ea typeface="SimSun" panose="02010600030101010101" pitchFamily="2" charset="-122"/>
            </a:endParaRPr>
          </a:p>
        </p:txBody>
      </p:sp>
      <p:sp>
        <p:nvSpPr>
          <p:cNvPr id="8" name="Shape 10">
            <a:extLst>
              <a:ext uri="{FF2B5EF4-FFF2-40B4-BE49-F238E27FC236}">
                <a16:creationId xmlns:a16="http://schemas.microsoft.com/office/drawing/2014/main" id="{9857FBF9-E14C-1EDE-6FF9-2C4CF424A254}"/>
              </a:ext>
            </a:extLst>
          </p:cNvPr>
          <p:cNvSpPr/>
          <p:nvPr/>
        </p:nvSpPr>
        <p:spPr>
          <a:xfrm>
            <a:off x="868679" y="1702335"/>
            <a:ext cx="3017519" cy="329184"/>
          </a:xfrm>
          <a:prstGeom prst="roundRect">
            <a:avLst>
              <a:gd name="adj" fmla="val 22222"/>
            </a:avLst>
          </a:prstGeom>
          <a:solidFill>
            <a:srgbClr val="8C1D40"/>
          </a:solidFill>
          <a:ln w="12700">
            <a:solidFill>
              <a:srgbClr val="8C1D40"/>
            </a:solidFill>
            <a:prstDash val="solid"/>
          </a:ln>
        </p:spPr>
      </p:sp>
      <p:sp>
        <p:nvSpPr>
          <p:cNvPr id="9" name="Text 11">
            <a:extLst>
              <a:ext uri="{FF2B5EF4-FFF2-40B4-BE49-F238E27FC236}">
                <a16:creationId xmlns:a16="http://schemas.microsoft.com/office/drawing/2014/main" id="{4F3AB2BE-A301-ED69-2C6E-6ADD61A9784B}"/>
              </a:ext>
            </a:extLst>
          </p:cNvPr>
          <p:cNvSpPr/>
          <p:nvPr/>
        </p:nvSpPr>
        <p:spPr>
          <a:xfrm>
            <a:off x="923543" y="1748055"/>
            <a:ext cx="2880877" cy="237744"/>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SimSun" panose="02010600030101010101" pitchFamily="2" charset="-122"/>
                <a:ea typeface="SimSun" panose="02010600030101010101" pitchFamily="2" charset="-122"/>
                <a:cs typeface="Noto Sans CJK SC" pitchFamily="34" charset="-120"/>
              </a:rPr>
              <a:t>Business similarity 50%</a:t>
            </a:r>
            <a:endParaRPr lang="en-US" sz="1200" dirty="0">
              <a:latin typeface="SimSun" panose="02010600030101010101" pitchFamily="2" charset="-122"/>
              <a:ea typeface="SimSun" panose="02010600030101010101" pitchFamily="2" charset="-122"/>
            </a:endParaRPr>
          </a:p>
        </p:txBody>
      </p:sp>
      <p:sp>
        <p:nvSpPr>
          <p:cNvPr id="10" name="Shape 12">
            <a:extLst>
              <a:ext uri="{FF2B5EF4-FFF2-40B4-BE49-F238E27FC236}">
                <a16:creationId xmlns:a16="http://schemas.microsoft.com/office/drawing/2014/main" id="{94FABC18-B2D0-97ED-990E-C84C37B0759F}"/>
              </a:ext>
            </a:extLst>
          </p:cNvPr>
          <p:cNvSpPr/>
          <p:nvPr/>
        </p:nvSpPr>
        <p:spPr>
          <a:xfrm>
            <a:off x="868679" y="2269263"/>
            <a:ext cx="2334307" cy="329184"/>
          </a:xfrm>
          <a:prstGeom prst="roundRect">
            <a:avLst>
              <a:gd name="adj" fmla="val 22222"/>
            </a:avLst>
          </a:prstGeom>
          <a:solidFill>
            <a:srgbClr val="52728C"/>
          </a:solidFill>
          <a:ln w="12700">
            <a:solidFill>
              <a:srgbClr val="52728C"/>
            </a:solidFill>
            <a:prstDash val="solid"/>
          </a:ln>
        </p:spPr>
      </p:sp>
      <p:sp>
        <p:nvSpPr>
          <p:cNvPr id="11" name="Text 13">
            <a:extLst>
              <a:ext uri="{FF2B5EF4-FFF2-40B4-BE49-F238E27FC236}">
                <a16:creationId xmlns:a16="http://schemas.microsoft.com/office/drawing/2014/main" id="{6D0F2192-9F4D-8E1F-95E7-088949F2C499}"/>
              </a:ext>
            </a:extLst>
          </p:cNvPr>
          <p:cNvSpPr/>
          <p:nvPr/>
        </p:nvSpPr>
        <p:spPr>
          <a:xfrm>
            <a:off x="923543" y="2314983"/>
            <a:ext cx="2209811" cy="237744"/>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SimSun" panose="02010600030101010101" pitchFamily="2" charset="-122"/>
                <a:ea typeface="SimSun" panose="02010600030101010101" pitchFamily="2" charset="-122"/>
                <a:cs typeface="Noto Sans CJK SC" pitchFamily="34" charset="-120"/>
              </a:rPr>
              <a:t>Financial structure 35%</a:t>
            </a:r>
            <a:endParaRPr lang="en-US" sz="1200" dirty="0">
              <a:latin typeface="SimSun" panose="02010600030101010101" pitchFamily="2" charset="-122"/>
              <a:ea typeface="SimSun" panose="02010600030101010101" pitchFamily="2" charset="-122"/>
            </a:endParaRPr>
          </a:p>
        </p:txBody>
      </p:sp>
      <p:sp>
        <p:nvSpPr>
          <p:cNvPr id="12" name="Shape 14">
            <a:extLst>
              <a:ext uri="{FF2B5EF4-FFF2-40B4-BE49-F238E27FC236}">
                <a16:creationId xmlns:a16="http://schemas.microsoft.com/office/drawing/2014/main" id="{A0DCD167-F678-64FF-303C-4E9F37B05FD5}"/>
              </a:ext>
            </a:extLst>
          </p:cNvPr>
          <p:cNvSpPr/>
          <p:nvPr/>
        </p:nvSpPr>
        <p:spPr>
          <a:xfrm>
            <a:off x="868679" y="2836191"/>
            <a:ext cx="1537227" cy="329184"/>
          </a:xfrm>
          <a:prstGeom prst="roundRect">
            <a:avLst>
              <a:gd name="adj" fmla="val 22222"/>
            </a:avLst>
          </a:prstGeom>
          <a:solidFill>
            <a:srgbClr val="C8A45D"/>
          </a:solidFill>
          <a:ln w="12700">
            <a:solidFill>
              <a:srgbClr val="C8A45D"/>
            </a:solidFill>
            <a:prstDash val="solid"/>
          </a:ln>
        </p:spPr>
      </p:sp>
      <p:sp>
        <p:nvSpPr>
          <p:cNvPr id="13" name="Text 15">
            <a:extLst>
              <a:ext uri="{FF2B5EF4-FFF2-40B4-BE49-F238E27FC236}">
                <a16:creationId xmlns:a16="http://schemas.microsoft.com/office/drawing/2014/main" id="{C952032E-72EF-5E5B-9A33-85994DC235D7}"/>
              </a:ext>
            </a:extLst>
          </p:cNvPr>
          <p:cNvSpPr/>
          <p:nvPr/>
        </p:nvSpPr>
        <p:spPr>
          <a:xfrm>
            <a:off x="923544" y="2881911"/>
            <a:ext cx="1400584" cy="237744"/>
          </a:xfrm>
          <a:prstGeom prst="rect">
            <a:avLst/>
          </a:prstGeom>
          <a:noFill/>
          <a:ln/>
        </p:spPr>
        <p:txBody>
          <a:bodyPr wrap="square" lIns="0" tIns="0" rIns="0" bIns="0" rtlCol="0" anchor="ctr">
            <a:normAutofit fontScale="92500"/>
          </a:bodyPr>
          <a:lstStyle/>
          <a:p>
            <a:pPr marL="0" indent="0">
              <a:buNone/>
            </a:pPr>
            <a:r>
              <a:rPr lang="en-US" sz="1200" b="1" dirty="0">
                <a:solidFill>
                  <a:srgbClr val="FFFFFF"/>
                </a:solidFill>
                <a:latin typeface="SimSun" panose="02010600030101010101" pitchFamily="2" charset="-122"/>
                <a:ea typeface="SimSun" panose="02010600030101010101" pitchFamily="2" charset="-122"/>
                <a:cs typeface="Noto Sans CJK SC" pitchFamily="34" charset="-120"/>
              </a:rPr>
              <a:t>Scale similarity 15%</a:t>
            </a:r>
            <a:endParaRPr lang="en-US" sz="1200" dirty="0">
              <a:latin typeface="SimSun" panose="02010600030101010101" pitchFamily="2" charset="-122"/>
              <a:ea typeface="SimSun" panose="02010600030101010101" pitchFamily="2" charset="-122"/>
            </a:endParaRPr>
          </a:p>
        </p:txBody>
      </p:sp>
      <p:sp>
        <p:nvSpPr>
          <p:cNvPr id="14" name="Text 16">
            <a:extLst>
              <a:ext uri="{FF2B5EF4-FFF2-40B4-BE49-F238E27FC236}">
                <a16:creationId xmlns:a16="http://schemas.microsoft.com/office/drawing/2014/main" id="{E071FD45-55C2-9DA4-475A-931185ECA6D9}"/>
              </a:ext>
            </a:extLst>
          </p:cNvPr>
          <p:cNvSpPr/>
          <p:nvPr/>
        </p:nvSpPr>
        <p:spPr>
          <a:xfrm>
            <a:off x="868680" y="3456432"/>
            <a:ext cx="4709160" cy="1143000"/>
          </a:xfrm>
          <a:prstGeom prst="rect">
            <a:avLst/>
          </a:prstGeom>
          <a:noFill/>
          <a:ln/>
        </p:spPr>
        <p:txBody>
          <a:bodyPr wrap="square" lIns="1016" tIns="1016" rIns="1016" bIns="1016" rtlCol="0" anchor="ctr">
            <a:normAutofit/>
          </a:bodyPr>
          <a:lstStyle/>
          <a:p>
            <a:pPr marL="0" indent="0">
              <a:buNone/>
            </a:pPr>
            <a:r>
              <a:rPr lang="en-US" sz="1280" dirty="0">
                <a:solidFill>
                  <a:srgbClr val="333333"/>
                </a:solidFill>
                <a:latin typeface="SimSun" panose="02010600030101010101" pitchFamily="2" charset="-122"/>
                <a:ea typeface="SimSun" panose="02010600030101010101" pitchFamily="2" charset="-122"/>
                <a:cs typeface="Noto Sans CJK SC" pitchFamily="34" charset="-120"/>
              </a:rPr>
              <a:t>业务相似性：行业 taxonomy + </a:t>
            </a:r>
            <a:r>
              <a:rPr lang="en-US" sz="1280" dirty="0" err="1">
                <a:solidFill>
                  <a:srgbClr val="333333"/>
                </a:solidFill>
                <a:latin typeface="SimSun" panose="02010600030101010101" pitchFamily="2" charset="-122"/>
                <a:ea typeface="SimSun" panose="02010600030101010101" pitchFamily="2" charset="-122"/>
                <a:cs typeface="Noto Sans CJK SC" pitchFamily="34" charset="-120"/>
              </a:rPr>
              <a:t>业务描述文本</a:t>
            </a:r>
            <a:r>
              <a:rPr lang="en-US" sz="1280" dirty="0">
                <a:solidFill>
                  <a:srgbClr val="333333"/>
                </a:solidFill>
                <a:latin typeface="SimSun" panose="02010600030101010101" pitchFamily="2" charset="-122"/>
                <a:ea typeface="SimSun" panose="02010600030101010101" pitchFamily="2" charset="-122"/>
                <a:cs typeface="Noto Sans CJK SC" pitchFamily="34" charset="-120"/>
              </a:rPr>
              <a:t> TF-IDF</a:t>
            </a:r>
            <a:br>
              <a:rPr lang="en-US" sz="1280" dirty="0">
                <a:solidFill>
                  <a:srgbClr val="333333"/>
                </a:solidFill>
                <a:latin typeface="SimSun" panose="02010600030101010101" pitchFamily="2" charset="-122"/>
                <a:ea typeface="SimSun" panose="02010600030101010101" pitchFamily="2" charset="-122"/>
                <a:cs typeface="Noto Sans CJK SC" pitchFamily="34" charset="-120"/>
              </a:rPr>
            </a:br>
            <a:endParaRPr lang="en-US" sz="1280" dirty="0">
              <a:latin typeface="SimSun" panose="02010600030101010101" pitchFamily="2" charset="-122"/>
              <a:ea typeface="SimSun" panose="02010600030101010101" pitchFamily="2" charset="-122"/>
            </a:endParaRPr>
          </a:p>
          <a:p>
            <a:pPr marL="0" indent="0">
              <a:buNone/>
            </a:pPr>
            <a:r>
              <a:rPr lang="en-US" sz="1280" dirty="0">
                <a:solidFill>
                  <a:srgbClr val="333333"/>
                </a:solidFill>
                <a:latin typeface="SimSun" panose="02010600030101010101" pitchFamily="2" charset="-122"/>
                <a:ea typeface="SimSun" panose="02010600030101010101" pitchFamily="2" charset="-122"/>
                <a:cs typeface="Noto Sans CJK SC" pitchFamily="34" charset="-120"/>
              </a:rPr>
              <a:t>财务结构：ROE、ROA、margin、debt ratio、current ratio </a:t>
            </a:r>
            <a:r>
              <a:rPr lang="en-US" sz="1280" dirty="0" err="1">
                <a:solidFill>
                  <a:srgbClr val="333333"/>
                </a:solidFill>
                <a:latin typeface="SimSun" panose="02010600030101010101" pitchFamily="2" charset="-122"/>
                <a:ea typeface="SimSun" panose="02010600030101010101" pitchFamily="2" charset="-122"/>
                <a:cs typeface="Noto Sans CJK SC" pitchFamily="34" charset="-120"/>
              </a:rPr>
              <a:t>等</a:t>
            </a:r>
            <a:br>
              <a:rPr lang="en-US" sz="1280" dirty="0">
                <a:solidFill>
                  <a:srgbClr val="333333"/>
                </a:solidFill>
                <a:latin typeface="SimSun" panose="02010600030101010101" pitchFamily="2" charset="-122"/>
                <a:ea typeface="SimSun" panose="02010600030101010101" pitchFamily="2" charset="-122"/>
                <a:cs typeface="Noto Sans CJK SC" pitchFamily="34" charset="-120"/>
              </a:rPr>
            </a:br>
            <a:endParaRPr lang="en-US" sz="1280" dirty="0">
              <a:latin typeface="SimSun" panose="02010600030101010101" pitchFamily="2" charset="-122"/>
              <a:ea typeface="SimSun" panose="02010600030101010101" pitchFamily="2" charset="-122"/>
            </a:endParaRPr>
          </a:p>
          <a:p>
            <a:pPr marL="0" indent="0">
              <a:buNone/>
            </a:pPr>
            <a:r>
              <a:rPr lang="en-US" sz="1280" dirty="0">
                <a:solidFill>
                  <a:srgbClr val="333333"/>
                </a:solidFill>
                <a:latin typeface="SimSun" panose="02010600030101010101" pitchFamily="2" charset="-122"/>
                <a:ea typeface="SimSun" panose="02010600030101010101" pitchFamily="2" charset="-122"/>
                <a:cs typeface="Noto Sans CJK SC" pitchFamily="34" charset="-120"/>
              </a:rPr>
              <a:t>规模相似性：total assets、revenue、equity 的 log scale</a:t>
            </a:r>
            <a:endParaRPr lang="en-US" sz="1280" dirty="0">
              <a:latin typeface="SimSun" panose="02010600030101010101" pitchFamily="2" charset="-122"/>
              <a:ea typeface="SimSun" panose="02010600030101010101" pitchFamily="2" charset="-122"/>
            </a:endParaRPr>
          </a:p>
        </p:txBody>
      </p:sp>
      <p:sp>
        <p:nvSpPr>
          <p:cNvPr id="15" name="Shape 17">
            <a:extLst>
              <a:ext uri="{FF2B5EF4-FFF2-40B4-BE49-F238E27FC236}">
                <a16:creationId xmlns:a16="http://schemas.microsoft.com/office/drawing/2014/main" id="{A2494B0E-FF11-AEB6-EF43-30D99F7CCB55}"/>
              </a:ext>
            </a:extLst>
          </p:cNvPr>
          <p:cNvSpPr/>
          <p:nvPr/>
        </p:nvSpPr>
        <p:spPr>
          <a:xfrm>
            <a:off x="868680" y="5010912"/>
            <a:ext cx="4526280" cy="502920"/>
          </a:xfrm>
          <a:prstGeom prst="roundRect">
            <a:avLst>
              <a:gd name="adj" fmla="val 14545"/>
            </a:avLst>
          </a:prstGeom>
          <a:solidFill>
            <a:srgbClr val="EFE5D8"/>
          </a:solidFill>
          <a:ln w="12700">
            <a:solidFill>
              <a:srgbClr val="DCCEBB"/>
            </a:solidFill>
            <a:prstDash val="solid"/>
          </a:ln>
        </p:spPr>
      </p:sp>
      <p:sp>
        <p:nvSpPr>
          <p:cNvPr id="16" name="Text 18">
            <a:extLst>
              <a:ext uri="{FF2B5EF4-FFF2-40B4-BE49-F238E27FC236}">
                <a16:creationId xmlns:a16="http://schemas.microsoft.com/office/drawing/2014/main" id="{2229F782-6B04-22DD-CD49-EA94D7469619}"/>
              </a:ext>
            </a:extLst>
          </p:cNvPr>
          <p:cNvSpPr/>
          <p:nvPr/>
        </p:nvSpPr>
        <p:spPr>
          <a:xfrm>
            <a:off x="960120" y="5084064"/>
            <a:ext cx="4343400" cy="356616"/>
          </a:xfrm>
          <a:prstGeom prst="rect">
            <a:avLst/>
          </a:prstGeom>
          <a:noFill/>
          <a:ln/>
        </p:spPr>
        <p:txBody>
          <a:bodyPr wrap="square" lIns="254" tIns="254" rIns="254" bIns="254" rtlCol="0" anchor="ctr">
            <a:normAutofit/>
          </a:bodyPr>
          <a:lstStyle/>
          <a:p>
            <a:pPr marL="0" indent="0" algn="ctr">
              <a:buNone/>
            </a:pPr>
            <a:r>
              <a:rPr lang="en-US" sz="1250" b="1" dirty="0" err="1">
                <a:solidFill>
                  <a:srgbClr val="8C1D40"/>
                </a:solidFill>
                <a:latin typeface="SimSun" panose="02010600030101010101" pitchFamily="2" charset="-122"/>
                <a:ea typeface="SimSun" panose="02010600030101010101" pitchFamily="2" charset="-122"/>
                <a:cs typeface="Noto Sans CJK SC" pitchFamily="34" charset="-120"/>
              </a:rPr>
              <a:t>数据不足时：降低</a:t>
            </a:r>
            <a:r>
              <a:rPr lang="zh-CN" altLang="en-US" sz="1250" b="1" dirty="0">
                <a:solidFill>
                  <a:srgbClr val="8C1D40"/>
                </a:solidFill>
                <a:latin typeface="SimSun" panose="02010600030101010101" pitchFamily="2" charset="-122"/>
                <a:ea typeface="SimSun" panose="02010600030101010101" pitchFamily="2" charset="-122"/>
                <a:cs typeface="Noto Sans CJK SC" pitchFamily="34" charset="-120"/>
              </a:rPr>
              <a:t> </a:t>
            </a:r>
            <a:r>
              <a:rPr lang="en-US" sz="1250" b="1" dirty="0" err="1">
                <a:solidFill>
                  <a:srgbClr val="8C1D40"/>
                </a:solidFill>
                <a:latin typeface="SimSun" panose="02010600030101010101" pitchFamily="2" charset="-122"/>
                <a:ea typeface="SimSun" panose="02010600030101010101" pitchFamily="2" charset="-122"/>
                <a:cs typeface="Noto Sans CJK SC" pitchFamily="34" charset="-120"/>
              </a:rPr>
              <a:t>业务相似性权重，提高</a:t>
            </a:r>
            <a:r>
              <a:rPr lang="zh-CN" altLang="en-US" sz="1250" b="1" dirty="0">
                <a:solidFill>
                  <a:srgbClr val="8C1D40"/>
                </a:solidFill>
                <a:latin typeface="SimSun" panose="02010600030101010101" pitchFamily="2" charset="-122"/>
                <a:ea typeface="SimSun" panose="02010600030101010101" pitchFamily="2" charset="-122"/>
                <a:cs typeface="Noto Sans CJK SC" pitchFamily="34" charset="-120"/>
              </a:rPr>
              <a:t> </a:t>
            </a:r>
            <a:r>
              <a:rPr lang="en-US" sz="1250" b="1" dirty="0" err="1">
                <a:solidFill>
                  <a:srgbClr val="8C1D40"/>
                </a:solidFill>
                <a:latin typeface="SimSun" panose="02010600030101010101" pitchFamily="2" charset="-122"/>
                <a:ea typeface="SimSun" panose="02010600030101010101" pitchFamily="2" charset="-122"/>
                <a:cs typeface="Noto Sans CJK SC" pitchFamily="34" charset="-120"/>
              </a:rPr>
              <a:t>财务结构权重</a:t>
            </a:r>
            <a:endParaRPr lang="en-US" sz="1250" dirty="0">
              <a:latin typeface="SimSun" panose="02010600030101010101" pitchFamily="2" charset="-122"/>
              <a:ea typeface="SimSun" panose="02010600030101010101" pitchFamily="2" charset="-122"/>
            </a:endParaRPr>
          </a:p>
        </p:txBody>
      </p:sp>
      <p:sp>
        <p:nvSpPr>
          <p:cNvPr id="17" name="Text 19">
            <a:extLst>
              <a:ext uri="{FF2B5EF4-FFF2-40B4-BE49-F238E27FC236}">
                <a16:creationId xmlns:a16="http://schemas.microsoft.com/office/drawing/2014/main" id="{59DEFFCD-5A0C-9F23-EEAD-A349F2F28F8F}"/>
              </a:ext>
            </a:extLst>
          </p:cNvPr>
          <p:cNvSpPr/>
          <p:nvPr/>
        </p:nvSpPr>
        <p:spPr>
          <a:xfrm>
            <a:off x="6172200" y="1444752"/>
            <a:ext cx="3017520" cy="320040"/>
          </a:xfrm>
          <a:prstGeom prst="rect">
            <a:avLst/>
          </a:prstGeom>
          <a:noFill/>
          <a:ln/>
        </p:spPr>
        <p:txBody>
          <a:bodyPr wrap="square" lIns="0" tIns="0" rIns="0" bIns="0" rtlCol="0" anchor="ctr">
            <a:normAutofit/>
          </a:bodyPr>
          <a:lstStyle/>
          <a:p>
            <a:pPr marL="0" indent="0">
              <a:buNone/>
            </a:pP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Peer candidate narrowing</a:t>
            </a:r>
            <a:endParaRPr lang="en-US" sz="1600" dirty="0">
              <a:latin typeface="SimSun" panose="02010600030101010101" pitchFamily="2" charset="-122"/>
              <a:ea typeface="SimSun" panose="02010600030101010101" pitchFamily="2" charset="-122"/>
            </a:endParaRPr>
          </a:p>
        </p:txBody>
      </p:sp>
      <p:sp>
        <p:nvSpPr>
          <p:cNvPr id="18" name="Shape 20">
            <a:extLst>
              <a:ext uri="{FF2B5EF4-FFF2-40B4-BE49-F238E27FC236}">
                <a16:creationId xmlns:a16="http://schemas.microsoft.com/office/drawing/2014/main" id="{C36CE729-7CF7-8A6C-7B51-B4925FD15332}"/>
              </a:ext>
            </a:extLst>
          </p:cNvPr>
          <p:cNvSpPr/>
          <p:nvPr/>
        </p:nvSpPr>
        <p:spPr>
          <a:xfrm>
            <a:off x="6126480" y="1901952"/>
            <a:ext cx="4572000" cy="530352"/>
          </a:xfrm>
          <a:prstGeom prst="roundRect">
            <a:avLst>
              <a:gd name="adj" fmla="val 13793"/>
            </a:avLst>
          </a:prstGeom>
          <a:solidFill>
            <a:srgbClr val="FFFDF7"/>
          </a:solidFill>
          <a:ln w="12700">
            <a:solidFill>
              <a:srgbClr val="8C1D40"/>
            </a:solidFill>
            <a:prstDash val="solid"/>
          </a:ln>
        </p:spPr>
      </p:sp>
      <p:sp>
        <p:nvSpPr>
          <p:cNvPr id="19" name="Text 21">
            <a:extLst>
              <a:ext uri="{FF2B5EF4-FFF2-40B4-BE49-F238E27FC236}">
                <a16:creationId xmlns:a16="http://schemas.microsoft.com/office/drawing/2014/main" id="{4D337449-7CAE-90A4-9FE9-AA91F6FD5103}"/>
              </a:ext>
            </a:extLst>
          </p:cNvPr>
          <p:cNvSpPr/>
          <p:nvPr/>
        </p:nvSpPr>
        <p:spPr>
          <a:xfrm>
            <a:off x="6217920" y="1975104"/>
            <a:ext cx="4389120" cy="384048"/>
          </a:xfrm>
          <a:prstGeom prst="rect">
            <a:avLst/>
          </a:prstGeom>
          <a:noFill/>
          <a:ln/>
        </p:spPr>
        <p:txBody>
          <a:bodyPr wrap="square" lIns="254" tIns="254" rIns="254" bIns="254" rtlCol="0" anchor="ctr">
            <a:normAutofit/>
          </a:bodyPr>
          <a:lstStyle/>
          <a:p>
            <a:pPr marL="0" indent="0" algn="ctr">
              <a:buNone/>
            </a:pPr>
            <a:r>
              <a:rPr lang="en-US" sz="1150" b="1" dirty="0">
                <a:solidFill>
                  <a:srgbClr val="8C1D40"/>
                </a:solidFill>
                <a:latin typeface="SimSun" panose="02010600030101010101" pitchFamily="2" charset="-122"/>
                <a:ea typeface="SimSun" panose="02010600030101010101" pitchFamily="2" charset="-122"/>
                <a:cs typeface="Noto Sans CJK SC" pitchFamily="34" charset="-120"/>
              </a:rPr>
              <a:t>1  一级 + 二级 + 三级行业相同</a:t>
            </a:r>
            <a:endParaRPr lang="en-US" sz="1150" dirty="0">
              <a:latin typeface="SimSun" panose="02010600030101010101" pitchFamily="2" charset="-122"/>
              <a:ea typeface="SimSun" panose="02010600030101010101" pitchFamily="2" charset="-122"/>
            </a:endParaRPr>
          </a:p>
          <a:p>
            <a:pPr marL="0" indent="0" algn="ctr">
              <a:buNone/>
            </a:pPr>
            <a:r>
              <a:rPr lang="en-US" sz="1150" b="1" dirty="0">
                <a:solidFill>
                  <a:srgbClr val="8C1D40"/>
                </a:solidFill>
                <a:latin typeface="SimSun" panose="02010600030101010101" pitchFamily="2" charset="-122"/>
                <a:ea typeface="SimSun" panose="02010600030101010101" pitchFamily="2" charset="-122"/>
                <a:cs typeface="Noto Sans CJK SC" pitchFamily="34" charset="-120"/>
              </a:rPr>
              <a:t>优先同一 K-means cluster</a:t>
            </a:r>
            <a:endParaRPr lang="en-US" sz="1150" dirty="0">
              <a:latin typeface="SimSun" panose="02010600030101010101" pitchFamily="2" charset="-122"/>
              <a:ea typeface="SimSun" panose="02010600030101010101" pitchFamily="2" charset="-122"/>
            </a:endParaRPr>
          </a:p>
        </p:txBody>
      </p:sp>
      <p:sp>
        <p:nvSpPr>
          <p:cNvPr id="20" name="Shape 22">
            <a:extLst>
              <a:ext uri="{FF2B5EF4-FFF2-40B4-BE49-F238E27FC236}">
                <a16:creationId xmlns:a16="http://schemas.microsoft.com/office/drawing/2014/main" id="{16D06C91-3148-A197-BF1A-2869CD7006A1}"/>
              </a:ext>
            </a:extLst>
          </p:cNvPr>
          <p:cNvSpPr/>
          <p:nvPr/>
        </p:nvSpPr>
        <p:spPr>
          <a:xfrm>
            <a:off x="6446520" y="2651760"/>
            <a:ext cx="3931920" cy="530352"/>
          </a:xfrm>
          <a:prstGeom prst="roundRect">
            <a:avLst>
              <a:gd name="adj" fmla="val 13793"/>
            </a:avLst>
          </a:prstGeom>
          <a:solidFill>
            <a:srgbClr val="FFFFFF"/>
          </a:solidFill>
          <a:ln w="12700">
            <a:solidFill>
              <a:srgbClr val="DCCEBB"/>
            </a:solidFill>
            <a:prstDash val="solid"/>
          </a:ln>
        </p:spPr>
      </p:sp>
      <p:sp>
        <p:nvSpPr>
          <p:cNvPr id="21" name="Text 23">
            <a:extLst>
              <a:ext uri="{FF2B5EF4-FFF2-40B4-BE49-F238E27FC236}">
                <a16:creationId xmlns:a16="http://schemas.microsoft.com/office/drawing/2014/main" id="{F779B5F2-0912-5A32-D9DF-66617F937936}"/>
              </a:ext>
            </a:extLst>
          </p:cNvPr>
          <p:cNvSpPr/>
          <p:nvPr/>
        </p:nvSpPr>
        <p:spPr>
          <a:xfrm>
            <a:off x="6537960" y="2724912"/>
            <a:ext cx="3749040" cy="384048"/>
          </a:xfrm>
          <a:prstGeom prst="rect">
            <a:avLst/>
          </a:prstGeom>
          <a:noFill/>
          <a:ln/>
        </p:spPr>
        <p:txBody>
          <a:bodyPr wrap="square" lIns="254" tIns="254" rIns="254" bIns="254" rtlCol="0" anchor="ctr">
            <a:normAutofit/>
          </a:bodyPr>
          <a:lstStyle/>
          <a:p>
            <a:pPr marL="0" indent="0" algn="ctr">
              <a:buNone/>
            </a:pPr>
            <a:r>
              <a:rPr lang="en-US" sz="1150" dirty="0">
                <a:solidFill>
                  <a:srgbClr val="333333"/>
                </a:solidFill>
                <a:latin typeface="SimSun" panose="02010600030101010101" pitchFamily="2" charset="-122"/>
                <a:ea typeface="SimSun" panose="02010600030101010101" pitchFamily="2" charset="-122"/>
                <a:cs typeface="Noto Sans CJK SC" pitchFamily="34" charset="-120"/>
              </a:rPr>
              <a:t>2  如果不足：放宽至一级 + 二级行业</a:t>
            </a:r>
            <a:endParaRPr lang="en-US" sz="1150" dirty="0">
              <a:latin typeface="SimSun" panose="02010600030101010101" pitchFamily="2" charset="-122"/>
              <a:ea typeface="SimSun" panose="02010600030101010101" pitchFamily="2" charset="-122"/>
            </a:endParaRPr>
          </a:p>
        </p:txBody>
      </p:sp>
      <p:sp>
        <p:nvSpPr>
          <p:cNvPr id="22" name="Shape 24">
            <a:extLst>
              <a:ext uri="{FF2B5EF4-FFF2-40B4-BE49-F238E27FC236}">
                <a16:creationId xmlns:a16="http://schemas.microsoft.com/office/drawing/2014/main" id="{8DB0B010-2325-CC45-B8E3-E2C6CF4F0C2B}"/>
              </a:ext>
            </a:extLst>
          </p:cNvPr>
          <p:cNvSpPr/>
          <p:nvPr/>
        </p:nvSpPr>
        <p:spPr>
          <a:xfrm>
            <a:off x="6766560" y="3401568"/>
            <a:ext cx="3291840" cy="530352"/>
          </a:xfrm>
          <a:prstGeom prst="roundRect">
            <a:avLst>
              <a:gd name="adj" fmla="val 13793"/>
            </a:avLst>
          </a:prstGeom>
          <a:solidFill>
            <a:srgbClr val="FFFFFF"/>
          </a:solidFill>
          <a:ln w="12700">
            <a:solidFill>
              <a:srgbClr val="DCCEBB"/>
            </a:solidFill>
            <a:prstDash val="solid"/>
          </a:ln>
        </p:spPr>
      </p:sp>
      <p:sp>
        <p:nvSpPr>
          <p:cNvPr id="23" name="Text 25">
            <a:extLst>
              <a:ext uri="{FF2B5EF4-FFF2-40B4-BE49-F238E27FC236}">
                <a16:creationId xmlns:a16="http://schemas.microsoft.com/office/drawing/2014/main" id="{12F36D3A-98AB-3EAE-1CA5-36C9CA6FA8E0}"/>
              </a:ext>
            </a:extLst>
          </p:cNvPr>
          <p:cNvSpPr/>
          <p:nvPr/>
        </p:nvSpPr>
        <p:spPr>
          <a:xfrm>
            <a:off x="6858000" y="3474720"/>
            <a:ext cx="3108960" cy="384048"/>
          </a:xfrm>
          <a:prstGeom prst="rect">
            <a:avLst/>
          </a:prstGeom>
          <a:noFill/>
          <a:ln/>
        </p:spPr>
        <p:txBody>
          <a:bodyPr wrap="square" lIns="254" tIns="254" rIns="254" bIns="254" rtlCol="0" anchor="ctr">
            <a:normAutofit/>
          </a:bodyPr>
          <a:lstStyle/>
          <a:p>
            <a:pPr marL="0" indent="0" algn="ctr">
              <a:buNone/>
            </a:pPr>
            <a:r>
              <a:rPr lang="en-US" sz="1150" dirty="0">
                <a:solidFill>
                  <a:srgbClr val="333333"/>
                </a:solidFill>
                <a:latin typeface="SimSun" panose="02010600030101010101" pitchFamily="2" charset="-122"/>
                <a:ea typeface="SimSun" panose="02010600030101010101" pitchFamily="2" charset="-122"/>
                <a:cs typeface="Noto Sans CJK SC" pitchFamily="34" charset="-120"/>
              </a:rPr>
              <a:t>3  如果仍不足：放宽至一级行业</a:t>
            </a:r>
            <a:endParaRPr lang="en-US" sz="1150" dirty="0">
              <a:latin typeface="SimSun" panose="02010600030101010101" pitchFamily="2" charset="-122"/>
              <a:ea typeface="SimSun" panose="02010600030101010101" pitchFamily="2" charset="-122"/>
            </a:endParaRPr>
          </a:p>
        </p:txBody>
      </p:sp>
      <p:sp>
        <p:nvSpPr>
          <p:cNvPr id="24" name="Shape 26">
            <a:extLst>
              <a:ext uri="{FF2B5EF4-FFF2-40B4-BE49-F238E27FC236}">
                <a16:creationId xmlns:a16="http://schemas.microsoft.com/office/drawing/2014/main" id="{D06E2C94-6687-7F23-D0B0-2815AAF89D6E}"/>
              </a:ext>
            </a:extLst>
          </p:cNvPr>
          <p:cNvSpPr/>
          <p:nvPr/>
        </p:nvSpPr>
        <p:spPr>
          <a:xfrm>
            <a:off x="7086600" y="4151376"/>
            <a:ext cx="2651760" cy="530352"/>
          </a:xfrm>
          <a:prstGeom prst="roundRect">
            <a:avLst>
              <a:gd name="adj" fmla="val 13793"/>
            </a:avLst>
          </a:prstGeom>
          <a:solidFill>
            <a:srgbClr val="FFFFFF"/>
          </a:solidFill>
          <a:ln w="12700">
            <a:solidFill>
              <a:srgbClr val="DCCEBB"/>
            </a:solidFill>
            <a:prstDash val="solid"/>
          </a:ln>
        </p:spPr>
      </p:sp>
      <p:sp>
        <p:nvSpPr>
          <p:cNvPr id="25" name="Text 27">
            <a:extLst>
              <a:ext uri="{FF2B5EF4-FFF2-40B4-BE49-F238E27FC236}">
                <a16:creationId xmlns:a16="http://schemas.microsoft.com/office/drawing/2014/main" id="{C9B1C234-2CAD-B11B-5B8D-F92333CC3A17}"/>
              </a:ext>
            </a:extLst>
          </p:cNvPr>
          <p:cNvSpPr/>
          <p:nvPr/>
        </p:nvSpPr>
        <p:spPr>
          <a:xfrm>
            <a:off x="7178040" y="4224528"/>
            <a:ext cx="2468880" cy="384048"/>
          </a:xfrm>
          <a:prstGeom prst="rect">
            <a:avLst/>
          </a:prstGeom>
          <a:noFill/>
          <a:ln/>
        </p:spPr>
        <p:txBody>
          <a:bodyPr wrap="square" lIns="254" tIns="254" rIns="254" bIns="254" rtlCol="0" anchor="ctr">
            <a:normAutofit/>
          </a:bodyPr>
          <a:lstStyle/>
          <a:p>
            <a:pPr marL="228600" indent="-228600" algn="ctr">
              <a:buAutoNum type="arabicPlain" startAt="4"/>
            </a:pPr>
            <a:r>
              <a:rPr lang="en-US" sz="1150" dirty="0" err="1">
                <a:solidFill>
                  <a:srgbClr val="333333"/>
                </a:solidFill>
                <a:latin typeface="SimSun" panose="02010600030101010101" pitchFamily="2" charset="-122"/>
                <a:ea typeface="SimSun" panose="02010600030101010101" pitchFamily="2" charset="-122"/>
                <a:cs typeface="Noto Sans CJK SC" pitchFamily="34" charset="-120"/>
              </a:rPr>
              <a:t>最终</a:t>
            </a:r>
            <a:r>
              <a:rPr lang="en-US" sz="1150" dirty="0">
                <a:solidFill>
                  <a:srgbClr val="333333"/>
                </a:solidFill>
                <a:latin typeface="SimSun" panose="02010600030101010101" pitchFamily="2" charset="-122"/>
                <a:ea typeface="SimSun" panose="02010600030101010101" pitchFamily="2" charset="-122"/>
                <a:cs typeface="Noto Sans CJK SC" pitchFamily="34" charset="-120"/>
              </a:rPr>
              <a:t> fallback：</a:t>
            </a:r>
          </a:p>
          <a:p>
            <a:pPr algn="ctr"/>
            <a:r>
              <a:rPr lang="en-US" sz="1150" dirty="0" err="1">
                <a:solidFill>
                  <a:srgbClr val="333333"/>
                </a:solidFill>
                <a:latin typeface="SimSun" panose="02010600030101010101" pitchFamily="2" charset="-122"/>
                <a:ea typeface="SimSun" panose="02010600030101010101" pitchFamily="2" charset="-122"/>
                <a:cs typeface="Noto Sans CJK SC" pitchFamily="34" charset="-120"/>
              </a:rPr>
              <a:t>同季度中财务特征最接近</a:t>
            </a:r>
            <a:endParaRPr lang="en-US" sz="1150" dirty="0">
              <a:latin typeface="SimSun" panose="02010600030101010101" pitchFamily="2" charset="-122"/>
              <a:ea typeface="SimSun" panose="02010600030101010101" pitchFamily="2" charset="-122"/>
            </a:endParaRPr>
          </a:p>
        </p:txBody>
      </p:sp>
      <p:sp>
        <p:nvSpPr>
          <p:cNvPr id="26" name="Text 28">
            <a:extLst>
              <a:ext uri="{FF2B5EF4-FFF2-40B4-BE49-F238E27FC236}">
                <a16:creationId xmlns:a16="http://schemas.microsoft.com/office/drawing/2014/main" id="{CD692441-7153-0370-C66D-AAED34D57E90}"/>
              </a:ext>
            </a:extLst>
          </p:cNvPr>
          <p:cNvSpPr/>
          <p:nvPr/>
        </p:nvSpPr>
        <p:spPr>
          <a:xfrm>
            <a:off x="6126480" y="5257800"/>
            <a:ext cx="4983480" cy="457200"/>
          </a:xfrm>
          <a:prstGeom prst="rect">
            <a:avLst/>
          </a:prstGeom>
          <a:noFill/>
          <a:ln/>
        </p:spPr>
        <p:txBody>
          <a:bodyPr wrap="square" lIns="254" tIns="254" rIns="254" bIns="254" rtlCol="0" anchor="ctr">
            <a:normAutofit/>
          </a:bodyPr>
          <a:lstStyle/>
          <a:p>
            <a:pPr marL="0" indent="0">
              <a:buNone/>
            </a:pPr>
            <a:r>
              <a:rPr lang="en-US" sz="1350" b="1" dirty="0">
                <a:solidFill>
                  <a:srgbClr val="8C1D40"/>
                </a:solidFill>
                <a:latin typeface="SimSun" panose="02010600030101010101" pitchFamily="2" charset="-122"/>
                <a:ea typeface="SimSun" panose="02010600030101010101" pitchFamily="2" charset="-122"/>
                <a:cs typeface="Noto Sans CJK SC" pitchFamily="34" charset="-120"/>
              </a:rPr>
              <a:t>防止信息泄漏：peer selection 阶段不使用 market cap 或 valuation multiple label。</a:t>
            </a:r>
            <a:endParaRPr lang="en-US" sz="1350" dirty="0">
              <a:latin typeface="SimSun" panose="02010600030101010101" pitchFamily="2" charset="-122"/>
              <a:ea typeface="SimSun"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t>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p:cNvSpPr>
            <a:spLocks noGrp="1"/>
          </p:cNvSpPr>
          <p:nvPr>
            <p:ph type="title"/>
          </p:nvPr>
        </p:nvSpPr>
        <p:spPr/>
        <p:txBody>
          <a:bodyPr>
            <a:normAutofit/>
          </a:bodyPr>
          <a:lstStyle/>
          <a:p>
            <a:r>
              <a:rPr lang="en-US" altLang="zh-CN" dirty="0">
                <a:sym typeface="Arial" panose="020B0604020202020204" pitchFamily="34" charset="0"/>
              </a:rPr>
              <a:t>Step 2</a:t>
            </a:r>
            <a:r>
              <a:rPr lang="zh-CN" altLang="en-US" dirty="0">
                <a:sym typeface="Arial" panose="020B0604020202020204" pitchFamily="34" charset="0"/>
              </a:rPr>
              <a:t>：</a:t>
            </a:r>
            <a:r>
              <a:rPr lang="en-US" altLang="zh-CN" dirty="0">
                <a:sym typeface="Arial" panose="020B0604020202020204" pitchFamily="34" charset="0"/>
              </a:rPr>
              <a:t>Multiple Selection</a:t>
            </a:r>
            <a:endParaRPr lang="zh-CN" altLang="en-US" dirty="0">
              <a:sym typeface="Arial" panose="020B0604020202020204" pitchFamily="34" charset="0"/>
            </a:endParaRPr>
          </a:p>
        </p:txBody>
      </p:sp>
      <p:sp>
        <p:nvSpPr>
          <p:cNvPr id="2" name="Shape 3">
            <a:extLst>
              <a:ext uri="{FF2B5EF4-FFF2-40B4-BE49-F238E27FC236}">
                <a16:creationId xmlns:a16="http://schemas.microsoft.com/office/drawing/2014/main" id="{E7DAC082-6C7B-D033-F267-146070BFA32A}"/>
              </a:ext>
            </a:extLst>
          </p:cNvPr>
          <p:cNvSpPr/>
          <p:nvPr/>
        </p:nvSpPr>
        <p:spPr>
          <a:xfrm>
            <a:off x="606626" y="6324526"/>
            <a:ext cx="10881360" cy="0"/>
          </a:xfrm>
          <a:prstGeom prst="line">
            <a:avLst/>
          </a:prstGeom>
          <a:noFill/>
          <a:ln w="10160">
            <a:solidFill>
              <a:srgbClr val="DCCEBB"/>
            </a:solidFill>
            <a:prstDash val="solid"/>
          </a:ln>
        </p:spPr>
      </p:sp>
      <p:sp>
        <p:nvSpPr>
          <p:cNvPr id="5" name="Shape 9">
            <a:extLst>
              <a:ext uri="{FF2B5EF4-FFF2-40B4-BE49-F238E27FC236}">
                <a16:creationId xmlns:a16="http://schemas.microsoft.com/office/drawing/2014/main" id="{CE1CDE7E-574D-EF16-2B8C-353C0CD226BE}"/>
              </a:ext>
            </a:extLst>
          </p:cNvPr>
          <p:cNvSpPr/>
          <p:nvPr/>
        </p:nvSpPr>
        <p:spPr>
          <a:xfrm>
            <a:off x="835226" y="1587934"/>
            <a:ext cx="2514600" cy="1417320"/>
          </a:xfrm>
          <a:prstGeom prst="roundRect">
            <a:avLst>
              <a:gd name="adj" fmla="val 5161"/>
            </a:avLst>
          </a:prstGeom>
          <a:solidFill>
            <a:srgbClr val="FFFDF7"/>
          </a:solidFill>
          <a:ln w="12700">
            <a:solidFill>
              <a:srgbClr val="8C1D40"/>
            </a:solidFill>
            <a:prstDash val="solid"/>
          </a:ln>
        </p:spPr>
      </p:sp>
      <p:sp>
        <p:nvSpPr>
          <p:cNvPr id="6" name="Text 10">
            <a:extLst>
              <a:ext uri="{FF2B5EF4-FFF2-40B4-BE49-F238E27FC236}">
                <a16:creationId xmlns:a16="http://schemas.microsoft.com/office/drawing/2014/main" id="{8F4932FE-722D-20E0-F94D-D3BED21F7D65}"/>
              </a:ext>
            </a:extLst>
          </p:cNvPr>
          <p:cNvSpPr/>
          <p:nvPr/>
        </p:nvSpPr>
        <p:spPr>
          <a:xfrm>
            <a:off x="926666" y="1661086"/>
            <a:ext cx="2331720" cy="1271016"/>
          </a:xfrm>
          <a:prstGeom prst="rect">
            <a:avLst/>
          </a:prstGeom>
          <a:noFill/>
          <a:ln/>
        </p:spPr>
        <p:txBody>
          <a:bodyPr wrap="square" lIns="254" tIns="254" rIns="254" bIns="254" rtlCol="0" anchor="ctr">
            <a:normAutofit/>
          </a:bodyPr>
          <a:lstStyle/>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P/B</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金融、房地产、资产中心型企业</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Book equity / asset base 更适合作 anchor</a:t>
            </a:r>
            <a:endParaRPr lang="en-US" sz="1250" dirty="0">
              <a:latin typeface="SimSun" panose="02010600030101010101" pitchFamily="2" charset="-122"/>
              <a:ea typeface="SimSun" panose="02010600030101010101" pitchFamily="2" charset="-122"/>
            </a:endParaRPr>
          </a:p>
        </p:txBody>
      </p:sp>
      <p:sp>
        <p:nvSpPr>
          <p:cNvPr id="7" name="Shape 11">
            <a:extLst>
              <a:ext uri="{FF2B5EF4-FFF2-40B4-BE49-F238E27FC236}">
                <a16:creationId xmlns:a16="http://schemas.microsoft.com/office/drawing/2014/main" id="{F6D4ED63-CD37-85DA-DA4A-7AC80FF91182}"/>
              </a:ext>
            </a:extLst>
          </p:cNvPr>
          <p:cNvSpPr/>
          <p:nvPr/>
        </p:nvSpPr>
        <p:spPr>
          <a:xfrm>
            <a:off x="3605858" y="1587934"/>
            <a:ext cx="2514600" cy="1417320"/>
          </a:xfrm>
          <a:prstGeom prst="roundRect">
            <a:avLst>
              <a:gd name="adj" fmla="val 5161"/>
            </a:avLst>
          </a:prstGeom>
          <a:solidFill>
            <a:srgbClr val="FFFFFF"/>
          </a:solidFill>
          <a:ln w="12700">
            <a:solidFill>
              <a:srgbClr val="DCCEBB"/>
            </a:solidFill>
            <a:prstDash val="solid"/>
          </a:ln>
        </p:spPr>
      </p:sp>
      <p:sp>
        <p:nvSpPr>
          <p:cNvPr id="8" name="Text 12">
            <a:extLst>
              <a:ext uri="{FF2B5EF4-FFF2-40B4-BE49-F238E27FC236}">
                <a16:creationId xmlns:a16="http://schemas.microsoft.com/office/drawing/2014/main" id="{BB875062-F8AD-D034-2EDA-C0DC76090FD4}"/>
              </a:ext>
            </a:extLst>
          </p:cNvPr>
          <p:cNvSpPr/>
          <p:nvPr/>
        </p:nvSpPr>
        <p:spPr>
          <a:xfrm>
            <a:off x="3697298" y="1661086"/>
            <a:ext cx="2331720" cy="1271016"/>
          </a:xfrm>
          <a:prstGeom prst="rect">
            <a:avLst/>
          </a:prstGeom>
          <a:noFill/>
          <a:ln/>
        </p:spPr>
        <p:txBody>
          <a:bodyPr wrap="square" lIns="254" tIns="254" rIns="254" bIns="254" rtlCol="0" anchor="ctr">
            <a:normAutofit/>
          </a:bodyPr>
          <a:lstStyle/>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EV/EBITDA</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折旧摊销负担重或负债率高</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用 enterprise value 更合适</a:t>
            </a:r>
            <a:endParaRPr lang="en-US" sz="1250" dirty="0">
              <a:latin typeface="SimSun" panose="02010600030101010101" pitchFamily="2" charset="-122"/>
              <a:ea typeface="SimSun" panose="02010600030101010101" pitchFamily="2" charset="-122"/>
            </a:endParaRPr>
          </a:p>
        </p:txBody>
      </p:sp>
      <p:sp>
        <p:nvSpPr>
          <p:cNvPr id="9" name="Shape 13">
            <a:extLst>
              <a:ext uri="{FF2B5EF4-FFF2-40B4-BE49-F238E27FC236}">
                <a16:creationId xmlns:a16="http://schemas.microsoft.com/office/drawing/2014/main" id="{11189BF3-E532-3F4A-3901-9F997E9B10A5}"/>
              </a:ext>
            </a:extLst>
          </p:cNvPr>
          <p:cNvSpPr/>
          <p:nvPr/>
        </p:nvSpPr>
        <p:spPr>
          <a:xfrm>
            <a:off x="6367346" y="1587934"/>
            <a:ext cx="2514600" cy="1417320"/>
          </a:xfrm>
          <a:prstGeom prst="roundRect">
            <a:avLst>
              <a:gd name="adj" fmla="val 5161"/>
            </a:avLst>
          </a:prstGeom>
          <a:solidFill>
            <a:srgbClr val="FFFFFF"/>
          </a:solidFill>
          <a:ln w="12700">
            <a:solidFill>
              <a:srgbClr val="DCCEBB"/>
            </a:solidFill>
            <a:prstDash val="solid"/>
          </a:ln>
        </p:spPr>
      </p:sp>
      <p:sp>
        <p:nvSpPr>
          <p:cNvPr id="10" name="Text 14">
            <a:extLst>
              <a:ext uri="{FF2B5EF4-FFF2-40B4-BE49-F238E27FC236}">
                <a16:creationId xmlns:a16="http://schemas.microsoft.com/office/drawing/2014/main" id="{16128F79-F57F-943D-DDCB-83B078A7E78F}"/>
              </a:ext>
            </a:extLst>
          </p:cNvPr>
          <p:cNvSpPr/>
          <p:nvPr/>
        </p:nvSpPr>
        <p:spPr>
          <a:xfrm>
            <a:off x="6458786" y="1661086"/>
            <a:ext cx="2331720" cy="1271016"/>
          </a:xfrm>
          <a:prstGeom prst="rect">
            <a:avLst/>
          </a:prstGeom>
          <a:noFill/>
          <a:ln/>
        </p:spPr>
        <p:txBody>
          <a:bodyPr wrap="square" lIns="254" tIns="254" rIns="254" bIns="254" rtlCol="0" anchor="ctr">
            <a:normAutofit/>
          </a:bodyPr>
          <a:lstStyle/>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P/E</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盈利稳定的一般经营型企业</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需满足正盈利、ROE、margin、leverage 条件</a:t>
            </a:r>
            <a:endParaRPr lang="en-US" sz="1250" dirty="0">
              <a:latin typeface="SimSun" panose="02010600030101010101" pitchFamily="2" charset="-122"/>
              <a:ea typeface="SimSun" panose="02010600030101010101" pitchFamily="2" charset="-122"/>
            </a:endParaRPr>
          </a:p>
        </p:txBody>
      </p:sp>
      <p:sp>
        <p:nvSpPr>
          <p:cNvPr id="11" name="Shape 15">
            <a:extLst>
              <a:ext uri="{FF2B5EF4-FFF2-40B4-BE49-F238E27FC236}">
                <a16:creationId xmlns:a16="http://schemas.microsoft.com/office/drawing/2014/main" id="{8CE213F2-42E7-8889-3B93-D1C913038205}"/>
              </a:ext>
            </a:extLst>
          </p:cNvPr>
          <p:cNvSpPr/>
          <p:nvPr/>
        </p:nvSpPr>
        <p:spPr>
          <a:xfrm>
            <a:off x="9128834" y="1587934"/>
            <a:ext cx="2148840" cy="1417320"/>
          </a:xfrm>
          <a:prstGeom prst="roundRect">
            <a:avLst>
              <a:gd name="adj" fmla="val 5161"/>
            </a:avLst>
          </a:prstGeom>
          <a:solidFill>
            <a:srgbClr val="FFFDF7"/>
          </a:solidFill>
          <a:ln w="12700">
            <a:solidFill>
              <a:srgbClr val="8C1D40"/>
            </a:solidFill>
            <a:prstDash val="solid"/>
          </a:ln>
        </p:spPr>
      </p:sp>
      <p:sp>
        <p:nvSpPr>
          <p:cNvPr id="12" name="Text 16">
            <a:extLst>
              <a:ext uri="{FF2B5EF4-FFF2-40B4-BE49-F238E27FC236}">
                <a16:creationId xmlns:a16="http://schemas.microsoft.com/office/drawing/2014/main" id="{1E469914-A913-A599-9C66-C45FDEF1BDBA}"/>
              </a:ext>
            </a:extLst>
          </p:cNvPr>
          <p:cNvSpPr/>
          <p:nvPr/>
        </p:nvSpPr>
        <p:spPr>
          <a:xfrm>
            <a:off x="9220274" y="1661086"/>
            <a:ext cx="1965960" cy="1271016"/>
          </a:xfrm>
          <a:prstGeom prst="rect">
            <a:avLst/>
          </a:prstGeom>
          <a:noFill/>
          <a:ln/>
        </p:spPr>
        <p:txBody>
          <a:bodyPr wrap="square" lIns="254" tIns="254" rIns="254" bIns="254" rtlCol="0" anchor="ctr">
            <a:normAutofit/>
          </a:bodyPr>
          <a:lstStyle/>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P/S</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亏损或高成长企业</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333333"/>
                </a:solidFill>
                <a:latin typeface="SimSun" panose="02010600030101010101" pitchFamily="2" charset="-122"/>
                <a:ea typeface="SimSun" panose="02010600030101010101" pitchFamily="2" charset="-122"/>
                <a:cs typeface="Noto Sans CJK SC" pitchFamily="34" charset="-120"/>
              </a:rPr>
              <a:t>Sales 比 earnings 更稳定</a:t>
            </a:r>
            <a:endParaRPr lang="en-US" sz="1250" dirty="0">
              <a:latin typeface="SimSun" panose="02010600030101010101" pitchFamily="2" charset="-122"/>
              <a:ea typeface="SimSun" panose="02010600030101010101" pitchFamily="2" charset="-122"/>
            </a:endParaRPr>
          </a:p>
        </p:txBody>
      </p:sp>
      <p:sp>
        <p:nvSpPr>
          <p:cNvPr id="13" name="Text 17">
            <a:extLst>
              <a:ext uri="{FF2B5EF4-FFF2-40B4-BE49-F238E27FC236}">
                <a16:creationId xmlns:a16="http://schemas.microsoft.com/office/drawing/2014/main" id="{644B6A94-9795-5289-E39C-EBC4027D9372}"/>
              </a:ext>
            </a:extLst>
          </p:cNvPr>
          <p:cNvSpPr/>
          <p:nvPr/>
        </p:nvSpPr>
        <p:spPr>
          <a:xfrm>
            <a:off x="926666" y="3444166"/>
            <a:ext cx="9966960" cy="347472"/>
          </a:xfrm>
          <a:prstGeom prst="rect">
            <a:avLst/>
          </a:prstGeom>
          <a:noFill/>
          <a:ln/>
        </p:spPr>
        <p:txBody>
          <a:bodyPr wrap="square" lIns="0" tIns="0" rIns="0" bIns="0" rtlCol="0" anchor="ctr">
            <a:normAutofit/>
          </a:bodyPr>
          <a:lstStyle/>
          <a:p>
            <a:pPr marL="0" indent="0">
              <a:buNone/>
            </a:pPr>
            <a:r>
              <a:rPr lang="en-US" sz="1440" b="1" dirty="0">
                <a:solidFill>
                  <a:srgbClr val="8C1D40"/>
                </a:solidFill>
                <a:latin typeface="SimSun" panose="02010600030101010101" pitchFamily="2" charset="-122"/>
                <a:ea typeface="SimSun" panose="02010600030101010101" pitchFamily="2" charset="-122"/>
                <a:cs typeface="Noto Sans CJK SC" pitchFamily="34" charset="-120"/>
              </a:rPr>
              <a:t>核心规则：净利润为正不会自动触发 P/E；系统同时检查盈利质量、杠杆水平和 D&amp;A burden。</a:t>
            </a:r>
            <a:endParaRPr lang="en-US" sz="1440" dirty="0">
              <a:latin typeface="SimSun" panose="02010600030101010101" pitchFamily="2" charset="-122"/>
              <a:ea typeface="SimSun" panose="02010600030101010101" pitchFamily="2" charset="-122"/>
            </a:endParaRPr>
          </a:p>
        </p:txBody>
      </p:sp>
      <p:sp>
        <p:nvSpPr>
          <p:cNvPr id="14" name="Text 18">
            <a:extLst>
              <a:ext uri="{FF2B5EF4-FFF2-40B4-BE49-F238E27FC236}">
                <a16:creationId xmlns:a16="http://schemas.microsoft.com/office/drawing/2014/main" id="{9AAD4C79-2540-45D5-6284-2E442ADF0B6D}"/>
              </a:ext>
            </a:extLst>
          </p:cNvPr>
          <p:cNvSpPr/>
          <p:nvPr/>
        </p:nvSpPr>
        <p:spPr>
          <a:xfrm>
            <a:off x="926666" y="4193974"/>
            <a:ext cx="2103120" cy="292608"/>
          </a:xfrm>
          <a:prstGeom prst="rect">
            <a:avLst/>
          </a:prstGeom>
          <a:noFill/>
          <a:ln/>
        </p:spPr>
        <p:txBody>
          <a:bodyPr wrap="square" lIns="0" tIns="0" rIns="0" bIns="0" rtlCol="0" anchor="ctr">
            <a:normAutofit/>
          </a:bodyPr>
          <a:lstStyle/>
          <a:p>
            <a:pPr marL="0" indent="0">
              <a:buNone/>
            </a:pP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前端可解释输出</a:t>
            </a:r>
            <a:endParaRPr lang="en-US" sz="1600" dirty="0">
              <a:latin typeface="SimSun" panose="02010600030101010101" pitchFamily="2" charset="-122"/>
              <a:ea typeface="SimSun" panose="02010600030101010101" pitchFamily="2" charset="-122"/>
            </a:endParaRPr>
          </a:p>
        </p:txBody>
      </p:sp>
      <p:sp>
        <p:nvSpPr>
          <p:cNvPr id="15" name="Shape 19">
            <a:extLst>
              <a:ext uri="{FF2B5EF4-FFF2-40B4-BE49-F238E27FC236}">
                <a16:creationId xmlns:a16="http://schemas.microsoft.com/office/drawing/2014/main" id="{D648C554-871E-AC19-94D3-8F7C5D32BD8D}"/>
              </a:ext>
            </a:extLst>
          </p:cNvPr>
          <p:cNvSpPr/>
          <p:nvPr/>
        </p:nvSpPr>
        <p:spPr>
          <a:xfrm>
            <a:off x="926666" y="4651174"/>
            <a:ext cx="2286000" cy="731520"/>
          </a:xfrm>
          <a:prstGeom prst="roundRect">
            <a:avLst>
              <a:gd name="adj" fmla="val 10000"/>
            </a:avLst>
          </a:prstGeom>
          <a:solidFill>
            <a:srgbClr val="EFE5D8"/>
          </a:solidFill>
          <a:ln w="12700">
            <a:solidFill>
              <a:srgbClr val="DCCEBB"/>
            </a:solidFill>
            <a:prstDash val="solid"/>
          </a:ln>
        </p:spPr>
      </p:sp>
      <p:sp>
        <p:nvSpPr>
          <p:cNvPr id="16" name="Text 20">
            <a:extLst>
              <a:ext uri="{FF2B5EF4-FFF2-40B4-BE49-F238E27FC236}">
                <a16:creationId xmlns:a16="http://schemas.microsoft.com/office/drawing/2014/main" id="{E7DE9942-08AA-0ECE-AB62-4640B4847D96}"/>
              </a:ext>
            </a:extLst>
          </p:cNvPr>
          <p:cNvSpPr/>
          <p:nvPr/>
        </p:nvSpPr>
        <p:spPr>
          <a:xfrm>
            <a:off x="1018106" y="4724326"/>
            <a:ext cx="2103120" cy="585216"/>
          </a:xfrm>
          <a:prstGeom prst="rect">
            <a:avLst/>
          </a:prstGeom>
          <a:noFill/>
          <a:ln/>
        </p:spPr>
        <p:txBody>
          <a:bodyPr wrap="square" lIns="254" tIns="254" rIns="254" bIns="254" rtlCol="0" anchor="ctr">
            <a:normAutofit/>
          </a:bodyPr>
          <a:lstStyle/>
          <a:p>
            <a:pPr marL="0" indent="0" algn="ctr">
              <a:buNone/>
            </a:pPr>
            <a:r>
              <a:rPr lang="en-US" sz="1120" b="1" dirty="0">
                <a:solidFill>
                  <a:srgbClr val="8C1D40"/>
                </a:solidFill>
                <a:latin typeface="SimSun" panose="02010600030101010101" pitchFamily="2" charset="-122"/>
                <a:ea typeface="SimSun" panose="02010600030101010101" pitchFamily="2" charset="-122"/>
                <a:cs typeface="Noto Sans CJK SC" pitchFamily="34" charset="-120"/>
              </a:rPr>
              <a:t>selected_multiple</a:t>
            </a:r>
            <a:endParaRPr lang="en-US" sz="1120" dirty="0">
              <a:latin typeface="SimSun" panose="02010600030101010101" pitchFamily="2" charset="-122"/>
              <a:ea typeface="SimSun" panose="02010600030101010101" pitchFamily="2" charset="-122"/>
            </a:endParaRPr>
          </a:p>
          <a:p>
            <a:pPr marL="0" indent="0" algn="ctr">
              <a:buNone/>
            </a:pPr>
            <a:r>
              <a:rPr lang="en-US" sz="1120" b="1" dirty="0">
                <a:solidFill>
                  <a:srgbClr val="8C1D40"/>
                </a:solidFill>
                <a:latin typeface="SimSun" panose="02010600030101010101" pitchFamily="2" charset="-122"/>
                <a:ea typeface="SimSun" panose="02010600030101010101" pitchFamily="2" charset="-122"/>
                <a:cs typeface="Noto Sans CJK SC" pitchFamily="34" charset="-120"/>
              </a:rPr>
              <a:t>使用哪一种估值倍数</a:t>
            </a:r>
            <a:endParaRPr lang="en-US" sz="1120" dirty="0">
              <a:latin typeface="SimSun" panose="02010600030101010101" pitchFamily="2" charset="-122"/>
              <a:ea typeface="SimSun" panose="02010600030101010101" pitchFamily="2" charset="-122"/>
            </a:endParaRPr>
          </a:p>
        </p:txBody>
      </p:sp>
      <p:sp>
        <p:nvSpPr>
          <p:cNvPr id="17" name="Shape 21">
            <a:extLst>
              <a:ext uri="{FF2B5EF4-FFF2-40B4-BE49-F238E27FC236}">
                <a16:creationId xmlns:a16="http://schemas.microsoft.com/office/drawing/2014/main" id="{921BF9B3-C9E5-2576-2B1F-01227D699258}"/>
              </a:ext>
            </a:extLst>
          </p:cNvPr>
          <p:cNvSpPr/>
          <p:nvPr/>
        </p:nvSpPr>
        <p:spPr>
          <a:xfrm>
            <a:off x="3532706" y="4651174"/>
            <a:ext cx="2286000" cy="731520"/>
          </a:xfrm>
          <a:prstGeom prst="roundRect">
            <a:avLst>
              <a:gd name="adj" fmla="val 10000"/>
            </a:avLst>
          </a:prstGeom>
          <a:solidFill>
            <a:srgbClr val="FFFFFF"/>
          </a:solidFill>
          <a:ln w="12700">
            <a:solidFill>
              <a:srgbClr val="DCCEBB"/>
            </a:solidFill>
            <a:prstDash val="solid"/>
          </a:ln>
        </p:spPr>
      </p:sp>
      <p:sp>
        <p:nvSpPr>
          <p:cNvPr id="18" name="Text 22">
            <a:extLst>
              <a:ext uri="{FF2B5EF4-FFF2-40B4-BE49-F238E27FC236}">
                <a16:creationId xmlns:a16="http://schemas.microsoft.com/office/drawing/2014/main" id="{B189E8D5-6753-43E4-B1AD-90DE67DDE2C9}"/>
              </a:ext>
            </a:extLst>
          </p:cNvPr>
          <p:cNvSpPr/>
          <p:nvPr/>
        </p:nvSpPr>
        <p:spPr>
          <a:xfrm>
            <a:off x="3624146" y="4724326"/>
            <a:ext cx="2103120" cy="585216"/>
          </a:xfrm>
          <a:prstGeom prst="rect">
            <a:avLst/>
          </a:prstGeom>
          <a:noFill/>
          <a:ln/>
        </p:spPr>
        <p:txBody>
          <a:bodyPr wrap="square" lIns="254" tIns="254" rIns="254" bIns="254" rtlCol="0" anchor="ctr">
            <a:normAutofit/>
          </a:bodyPr>
          <a:lstStyle/>
          <a:p>
            <a:pPr marL="0" indent="0" algn="ctr">
              <a:buNone/>
            </a:pPr>
            <a:r>
              <a:rPr lang="en-US" sz="1120" b="1" dirty="0">
                <a:solidFill>
                  <a:srgbClr val="333333"/>
                </a:solidFill>
                <a:latin typeface="SimSun" panose="02010600030101010101" pitchFamily="2" charset="-122"/>
                <a:ea typeface="SimSun" panose="02010600030101010101" pitchFamily="2" charset="-122"/>
                <a:cs typeface="Noto Sans CJK SC" pitchFamily="34" charset="-120"/>
              </a:rPr>
              <a:t>selection_reason</a:t>
            </a:r>
            <a:endParaRPr lang="en-US" sz="1120" dirty="0">
              <a:latin typeface="SimSun" panose="02010600030101010101" pitchFamily="2" charset="-122"/>
              <a:ea typeface="SimSun" panose="02010600030101010101" pitchFamily="2" charset="-122"/>
            </a:endParaRPr>
          </a:p>
          <a:p>
            <a:pPr marL="0" indent="0" algn="ctr">
              <a:buNone/>
            </a:pPr>
            <a:r>
              <a:rPr lang="en-US" sz="1120" b="1" dirty="0">
                <a:solidFill>
                  <a:srgbClr val="333333"/>
                </a:solidFill>
                <a:latin typeface="SimSun" panose="02010600030101010101" pitchFamily="2" charset="-122"/>
                <a:ea typeface="SimSun" panose="02010600030101010101" pitchFamily="2" charset="-122"/>
                <a:cs typeface="Noto Sans CJK SC" pitchFamily="34" charset="-120"/>
              </a:rPr>
              <a:t>为什么适用</a:t>
            </a:r>
            <a:endParaRPr lang="en-US" sz="1120" dirty="0">
              <a:latin typeface="SimSun" panose="02010600030101010101" pitchFamily="2" charset="-122"/>
              <a:ea typeface="SimSun" panose="02010600030101010101" pitchFamily="2" charset="-122"/>
            </a:endParaRPr>
          </a:p>
        </p:txBody>
      </p:sp>
      <p:sp>
        <p:nvSpPr>
          <p:cNvPr id="19" name="Shape 23">
            <a:extLst>
              <a:ext uri="{FF2B5EF4-FFF2-40B4-BE49-F238E27FC236}">
                <a16:creationId xmlns:a16="http://schemas.microsoft.com/office/drawing/2014/main" id="{9C40EBB4-0EE7-FAAA-3CCE-153EFB41A80E}"/>
              </a:ext>
            </a:extLst>
          </p:cNvPr>
          <p:cNvSpPr/>
          <p:nvPr/>
        </p:nvSpPr>
        <p:spPr>
          <a:xfrm>
            <a:off x="6138746" y="4651174"/>
            <a:ext cx="2286000" cy="731520"/>
          </a:xfrm>
          <a:prstGeom prst="roundRect">
            <a:avLst>
              <a:gd name="adj" fmla="val 10000"/>
            </a:avLst>
          </a:prstGeom>
          <a:solidFill>
            <a:srgbClr val="EFE5D8"/>
          </a:solidFill>
          <a:ln w="12700">
            <a:solidFill>
              <a:srgbClr val="DCCEBB"/>
            </a:solidFill>
            <a:prstDash val="solid"/>
          </a:ln>
        </p:spPr>
      </p:sp>
      <p:sp>
        <p:nvSpPr>
          <p:cNvPr id="20" name="Text 24">
            <a:extLst>
              <a:ext uri="{FF2B5EF4-FFF2-40B4-BE49-F238E27FC236}">
                <a16:creationId xmlns:a16="http://schemas.microsoft.com/office/drawing/2014/main" id="{F8E78E30-7094-D960-F13F-30806D72C838}"/>
              </a:ext>
            </a:extLst>
          </p:cNvPr>
          <p:cNvSpPr/>
          <p:nvPr/>
        </p:nvSpPr>
        <p:spPr>
          <a:xfrm>
            <a:off x="6230186" y="4724326"/>
            <a:ext cx="2103120" cy="585216"/>
          </a:xfrm>
          <a:prstGeom prst="rect">
            <a:avLst/>
          </a:prstGeom>
          <a:noFill/>
          <a:ln/>
        </p:spPr>
        <p:txBody>
          <a:bodyPr wrap="square" lIns="254" tIns="254" rIns="254" bIns="254" rtlCol="0" anchor="ctr">
            <a:normAutofit/>
          </a:bodyPr>
          <a:lstStyle/>
          <a:p>
            <a:pPr marL="0" indent="0" algn="ctr">
              <a:buNone/>
            </a:pPr>
            <a:r>
              <a:rPr lang="en-US" sz="1120" b="1" dirty="0">
                <a:solidFill>
                  <a:srgbClr val="8C1D40"/>
                </a:solidFill>
                <a:latin typeface="SimSun" panose="02010600030101010101" pitchFamily="2" charset="-122"/>
                <a:ea typeface="SimSun" panose="02010600030101010101" pitchFamily="2" charset="-122"/>
                <a:cs typeface="Noto Sans CJK SC" pitchFamily="34" charset="-120"/>
              </a:rPr>
              <a:t>selection_subtype</a:t>
            </a:r>
            <a:endParaRPr lang="en-US" sz="1120" dirty="0">
              <a:latin typeface="SimSun" panose="02010600030101010101" pitchFamily="2" charset="-122"/>
              <a:ea typeface="SimSun" panose="02010600030101010101" pitchFamily="2" charset="-122"/>
            </a:endParaRPr>
          </a:p>
          <a:p>
            <a:pPr marL="0" indent="0" algn="ctr">
              <a:buNone/>
            </a:pPr>
            <a:r>
              <a:rPr lang="en-US" sz="1120" b="1" dirty="0">
                <a:solidFill>
                  <a:srgbClr val="8C1D40"/>
                </a:solidFill>
                <a:latin typeface="SimSun" panose="02010600030101010101" pitchFamily="2" charset="-122"/>
                <a:ea typeface="SimSun" panose="02010600030101010101" pitchFamily="2" charset="-122"/>
                <a:cs typeface="Noto Sans CJK SC" pitchFamily="34" charset="-120"/>
              </a:rPr>
              <a:t>属于哪类触发规则</a:t>
            </a:r>
            <a:endParaRPr lang="en-US" sz="1120" dirty="0">
              <a:latin typeface="SimSun" panose="02010600030101010101" pitchFamily="2" charset="-122"/>
              <a:ea typeface="SimSun" panose="02010600030101010101" pitchFamily="2" charset="-122"/>
            </a:endParaRPr>
          </a:p>
        </p:txBody>
      </p:sp>
      <p:sp>
        <p:nvSpPr>
          <p:cNvPr id="21" name="Shape 25">
            <a:extLst>
              <a:ext uri="{FF2B5EF4-FFF2-40B4-BE49-F238E27FC236}">
                <a16:creationId xmlns:a16="http://schemas.microsoft.com/office/drawing/2014/main" id="{5E3CC5D3-A933-ABCE-1EE4-19B8B0A8AF66}"/>
              </a:ext>
            </a:extLst>
          </p:cNvPr>
          <p:cNvSpPr/>
          <p:nvPr/>
        </p:nvSpPr>
        <p:spPr>
          <a:xfrm>
            <a:off x="8744786" y="4651174"/>
            <a:ext cx="2286000" cy="731520"/>
          </a:xfrm>
          <a:prstGeom prst="roundRect">
            <a:avLst>
              <a:gd name="adj" fmla="val 10000"/>
            </a:avLst>
          </a:prstGeom>
          <a:solidFill>
            <a:srgbClr val="FFFFFF"/>
          </a:solidFill>
          <a:ln w="12700">
            <a:solidFill>
              <a:srgbClr val="DCCEBB"/>
            </a:solidFill>
            <a:prstDash val="solid"/>
          </a:ln>
        </p:spPr>
      </p:sp>
      <p:sp>
        <p:nvSpPr>
          <p:cNvPr id="22" name="Text 26">
            <a:extLst>
              <a:ext uri="{FF2B5EF4-FFF2-40B4-BE49-F238E27FC236}">
                <a16:creationId xmlns:a16="http://schemas.microsoft.com/office/drawing/2014/main" id="{FEB87D52-13C0-47D9-FE4D-CB99F4404C3F}"/>
              </a:ext>
            </a:extLst>
          </p:cNvPr>
          <p:cNvSpPr/>
          <p:nvPr/>
        </p:nvSpPr>
        <p:spPr>
          <a:xfrm>
            <a:off x="8836226" y="4724326"/>
            <a:ext cx="2103120" cy="585216"/>
          </a:xfrm>
          <a:prstGeom prst="rect">
            <a:avLst/>
          </a:prstGeom>
          <a:noFill/>
          <a:ln/>
        </p:spPr>
        <p:txBody>
          <a:bodyPr wrap="square" lIns="254" tIns="254" rIns="254" bIns="254" rtlCol="0" anchor="ctr">
            <a:normAutofit/>
          </a:bodyPr>
          <a:lstStyle/>
          <a:p>
            <a:pPr marL="0" indent="0" algn="ctr">
              <a:buNone/>
            </a:pPr>
            <a:r>
              <a:rPr lang="en-US" sz="1120" b="1" dirty="0">
                <a:solidFill>
                  <a:srgbClr val="333333"/>
                </a:solidFill>
                <a:latin typeface="SimSun" panose="02010600030101010101" pitchFamily="2" charset="-122"/>
                <a:ea typeface="SimSun" panose="02010600030101010101" pitchFamily="2" charset="-122"/>
                <a:cs typeface="Noto Sans CJK SC" pitchFamily="34" charset="-120"/>
              </a:rPr>
              <a:t>confidence</a:t>
            </a:r>
            <a:endParaRPr lang="en-US" sz="1120" dirty="0">
              <a:latin typeface="SimSun" panose="02010600030101010101" pitchFamily="2" charset="-122"/>
              <a:ea typeface="SimSun" panose="02010600030101010101" pitchFamily="2" charset="-122"/>
            </a:endParaRPr>
          </a:p>
          <a:p>
            <a:pPr marL="0" indent="0" algn="ctr">
              <a:buNone/>
            </a:pPr>
            <a:r>
              <a:rPr lang="en-US" sz="1120" b="1" dirty="0">
                <a:solidFill>
                  <a:srgbClr val="333333"/>
                </a:solidFill>
                <a:latin typeface="SimSun" panose="02010600030101010101" pitchFamily="2" charset="-122"/>
                <a:ea typeface="SimSun" panose="02010600030101010101" pitchFamily="2" charset="-122"/>
                <a:cs typeface="Noto Sans CJK SC" pitchFamily="34" charset="-120"/>
              </a:rPr>
              <a:t>选择可信度</a:t>
            </a:r>
            <a:endParaRPr lang="en-US" sz="1120" dirty="0">
              <a:latin typeface="SimSun" panose="02010600030101010101" pitchFamily="2" charset="-122"/>
              <a:ea typeface="SimSun"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r>
              <a:rPr lang="en-US" altLang="zh-CN" dirty="0">
                <a:sym typeface="Arial" panose="020B0604020202020204" pitchFamily="34" charset="0"/>
              </a:rPr>
              <a:t>&lt; </a:t>
            </a:r>
            <a:fld id="{A548B57D-AE10-4CF7-A9DF-59FEFA91B28E}" type="slidenum">
              <a:rPr lang="zh-CN" altLang="en-US" dirty="0" smtClean="0">
                <a:sym typeface="Arial" panose="020B0604020202020204" pitchFamily="34" charset="0"/>
              </a:rPr>
              <a:t>5</a:t>
            </a:fld>
            <a:r>
              <a:rPr lang="zh-CN" altLang="en-US" dirty="0">
                <a:sym typeface="Arial" panose="020B0604020202020204" pitchFamily="34" charset="0"/>
              </a:rPr>
              <a:t> </a:t>
            </a:r>
            <a:r>
              <a:rPr lang="en-US" altLang="zh-CN" dirty="0">
                <a:sym typeface="Arial" panose="020B0604020202020204" pitchFamily="34" charset="0"/>
              </a:rPr>
              <a:t>&gt;</a:t>
            </a:r>
            <a:endParaRPr lang="zh-CN" altLang="en-US" dirty="0">
              <a:sym typeface="Arial" panose="020B0604020202020204" pitchFamily="34" charset="0"/>
            </a:endParaRPr>
          </a:p>
        </p:txBody>
      </p:sp>
      <p:sp>
        <p:nvSpPr>
          <p:cNvPr id="2" name="标题 1"/>
          <p:cNvSpPr>
            <a:spLocks noGrp="1"/>
          </p:cNvSpPr>
          <p:nvPr>
            <p:ph type="title"/>
          </p:nvPr>
        </p:nvSpPr>
        <p:spPr/>
        <p:txBody>
          <a:bodyPr>
            <a:normAutofit/>
          </a:bodyPr>
          <a:lstStyle/>
          <a:p>
            <a:r>
              <a:rPr lang="en-US" altLang="zh-CN" dirty="0">
                <a:sym typeface="Arial" panose="020B0604020202020204" pitchFamily="34" charset="0"/>
              </a:rPr>
              <a:t>Step 3</a:t>
            </a:r>
            <a:r>
              <a:rPr lang="zh-CN" altLang="en-US" dirty="0">
                <a:sym typeface="Arial" panose="020B0604020202020204" pitchFamily="34" charset="0"/>
              </a:rPr>
              <a:t>：</a:t>
            </a:r>
            <a:r>
              <a:rPr lang="en-US" altLang="zh-CN" dirty="0">
                <a:sym typeface="Arial" panose="020B0604020202020204" pitchFamily="34" charset="0"/>
              </a:rPr>
              <a:t>Market-implied Multiple Prediction</a:t>
            </a:r>
            <a:endParaRPr lang="zh-CN" altLang="en-US" dirty="0">
              <a:sym typeface="Arial" panose="020B0604020202020204" pitchFamily="34" charset="0"/>
            </a:endParaRPr>
          </a:p>
        </p:txBody>
      </p:sp>
      <p:sp>
        <p:nvSpPr>
          <p:cNvPr id="4" name="Shape 9">
            <a:extLst>
              <a:ext uri="{FF2B5EF4-FFF2-40B4-BE49-F238E27FC236}">
                <a16:creationId xmlns:a16="http://schemas.microsoft.com/office/drawing/2014/main" id="{D4544EB2-3CD4-3A4E-158F-15B309439EEB}"/>
              </a:ext>
            </a:extLst>
          </p:cNvPr>
          <p:cNvSpPr/>
          <p:nvPr/>
        </p:nvSpPr>
        <p:spPr>
          <a:xfrm>
            <a:off x="946738" y="1652616"/>
            <a:ext cx="1874520" cy="713232"/>
          </a:xfrm>
          <a:prstGeom prst="roundRect">
            <a:avLst>
              <a:gd name="adj" fmla="val 10256"/>
            </a:avLst>
          </a:prstGeom>
          <a:solidFill>
            <a:srgbClr val="FFFFFF"/>
          </a:solidFill>
          <a:ln w="12700">
            <a:solidFill>
              <a:srgbClr val="DCCEBB"/>
            </a:solidFill>
            <a:prstDash val="solid"/>
          </a:ln>
        </p:spPr>
      </p:sp>
      <p:sp>
        <p:nvSpPr>
          <p:cNvPr id="5" name="Text 10">
            <a:extLst>
              <a:ext uri="{FF2B5EF4-FFF2-40B4-BE49-F238E27FC236}">
                <a16:creationId xmlns:a16="http://schemas.microsoft.com/office/drawing/2014/main" id="{83E5ED24-5E44-E11C-81D8-67D676741EAD}"/>
              </a:ext>
            </a:extLst>
          </p:cNvPr>
          <p:cNvSpPr/>
          <p:nvPr/>
        </p:nvSpPr>
        <p:spPr>
          <a:xfrm>
            <a:off x="1038178" y="1725768"/>
            <a:ext cx="1691640" cy="566928"/>
          </a:xfrm>
          <a:prstGeom prst="rect">
            <a:avLst/>
          </a:prstGeom>
          <a:noFill/>
          <a:ln/>
        </p:spPr>
        <p:txBody>
          <a:bodyPr wrap="square" lIns="254" tIns="254" rIns="254" bIns="254" rtlCol="0" anchor="ctr">
            <a:normAutofit/>
          </a:bodyPr>
          <a:lstStyle/>
          <a:p>
            <a:pPr marL="0" indent="0" algn="ctr">
              <a:buNone/>
            </a:pPr>
            <a:r>
              <a:rPr lang="en-US" sz="1250" b="1" dirty="0">
                <a:solidFill>
                  <a:srgbClr val="242424"/>
                </a:solidFill>
                <a:latin typeface="SimSun" panose="02010600030101010101" pitchFamily="2" charset="-122"/>
                <a:ea typeface="SimSun" panose="02010600030101010101" pitchFamily="2" charset="-122"/>
                <a:cs typeface="Noto Sans CJK SC" pitchFamily="34" charset="-120"/>
              </a:rPr>
              <a:t>按 Step 2</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242424"/>
                </a:solidFill>
                <a:latin typeface="SimSun" panose="02010600030101010101" pitchFamily="2" charset="-122"/>
                <a:ea typeface="SimSun" panose="02010600030101010101" pitchFamily="2" charset="-122"/>
                <a:cs typeface="Noto Sans CJK SC" pitchFamily="34" charset="-120"/>
              </a:rPr>
              <a:t>分组标签</a:t>
            </a:r>
            <a:endParaRPr lang="en-US" sz="1250" dirty="0">
              <a:latin typeface="SimSun" panose="02010600030101010101" pitchFamily="2" charset="-122"/>
              <a:ea typeface="SimSun" panose="02010600030101010101" pitchFamily="2" charset="-122"/>
            </a:endParaRPr>
          </a:p>
        </p:txBody>
      </p:sp>
      <p:sp>
        <p:nvSpPr>
          <p:cNvPr id="6" name="Shape 11">
            <a:extLst>
              <a:ext uri="{FF2B5EF4-FFF2-40B4-BE49-F238E27FC236}">
                <a16:creationId xmlns:a16="http://schemas.microsoft.com/office/drawing/2014/main" id="{CD9E36C4-B3CB-737C-BEEB-83E9D4780619}"/>
              </a:ext>
            </a:extLst>
          </p:cNvPr>
          <p:cNvSpPr/>
          <p:nvPr/>
        </p:nvSpPr>
        <p:spPr>
          <a:xfrm>
            <a:off x="2866978" y="2009232"/>
            <a:ext cx="667512" cy="0"/>
          </a:xfrm>
          <a:prstGeom prst="line">
            <a:avLst/>
          </a:prstGeom>
          <a:noFill/>
          <a:ln w="19050">
            <a:solidFill>
              <a:srgbClr val="8C1D40"/>
            </a:solidFill>
            <a:prstDash val="solid"/>
            <a:tailEnd type="triangle"/>
          </a:ln>
        </p:spPr>
      </p:sp>
      <p:sp>
        <p:nvSpPr>
          <p:cNvPr id="7" name="Shape 12">
            <a:extLst>
              <a:ext uri="{FF2B5EF4-FFF2-40B4-BE49-F238E27FC236}">
                <a16:creationId xmlns:a16="http://schemas.microsoft.com/office/drawing/2014/main" id="{90763EBC-A5A8-A20E-3B98-E6A107A9EF6A}"/>
              </a:ext>
            </a:extLst>
          </p:cNvPr>
          <p:cNvSpPr/>
          <p:nvPr/>
        </p:nvSpPr>
        <p:spPr>
          <a:xfrm>
            <a:off x="3598498" y="1652616"/>
            <a:ext cx="1920240" cy="713232"/>
          </a:xfrm>
          <a:prstGeom prst="roundRect">
            <a:avLst>
              <a:gd name="adj" fmla="val 10256"/>
            </a:avLst>
          </a:prstGeom>
          <a:solidFill>
            <a:srgbClr val="FFFDF7"/>
          </a:solidFill>
          <a:ln w="12700">
            <a:solidFill>
              <a:srgbClr val="8C1D40"/>
            </a:solidFill>
            <a:prstDash val="solid"/>
          </a:ln>
        </p:spPr>
      </p:sp>
      <p:sp>
        <p:nvSpPr>
          <p:cNvPr id="8" name="Text 13">
            <a:extLst>
              <a:ext uri="{FF2B5EF4-FFF2-40B4-BE49-F238E27FC236}">
                <a16:creationId xmlns:a16="http://schemas.microsoft.com/office/drawing/2014/main" id="{D6DE181D-392C-3761-DA79-82DF55A98400}"/>
              </a:ext>
            </a:extLst>
          </p:cNvPr>
          <p:cNvSpPr/>
          <p:nvPr/>
        </p:nvSpPr>
        <p:spPr>
          <a:xfrm>
            <a:off x="3689938" y="1725768"/>
            <a:ext cx="1737360" cy="566928"/>
          </a:xfrm>
          <a:prstGeom prst="rect">
            <a:avLst/>
          </a:prstGeom>
          <a:noFill/>
          <a:ln/>
        </p:spPr>
        <p:txBody>
          <a:bodyPr wrap="square" lIns="254" tIns="254" rIns="254" bIns="254" rtlCol="0" anchor="ctr">
            <a:normAutofit/>
          </a:bodyPr>
          <a:lstStyle/>
          <a:p>
            <a:pPr marL="0" indent="0" algn="ctr">
              <a:buNone/>
            </a:pPr>
            <a:r>
              <a:rPr lang="en-US" sz="1250" b="1" dirty="0">
                <a:solidFill>
                  <a:srgbClr val="8C1D40"/>
                </a:solidFill>
                <a:latin typeface="SimSun" panose="02010600030101010101" pitchFamily="2" charset="-122"/>
                <a:ea typeface="SimSun" panose="02010600030101010101" pitchFamily="2" charset="-122"/>
                <a:cs typeface="Noto Sans CJK SC" pitchFamily="34" charset="-120"/>
              </a:rPr>
              <a:t>预测 log multiple</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8C1D40"/>
                </a:solidFill>
                <a:latin typeface="SimSun" panose="02010600030101010101" pitchFamily="2" charset="-122"/>
                <a:ea typeface="SimSun" panose="02010600030101010101" pitchFamily="2" charset="-122"/>
                <a:cs typeface="Noto Sans CJK SC" pitchFamily="34" charset="-120"/>
              </a:rPr>
              <a:t>降低 outlier 影响</a:t>
            </a:r>
            <a:endParaRPr lang="en-US" sz="1250" dirty="0">
              <a:latin typeface="SimSun" panose="02010600030101010101" pitchFamily="2" charset="-122"/>
              <a:ea typeface="SimSun" panose="02010600030101010101" pitchFamily="2" charset="-122"/>
            </a:endParaRPr>
          </a:p>
        </p:txBody>
      </p:sp>
      <p:sp>
        <p:nvSpPr>
          <p:cNvPr id="9" name="Shape 14">
            <a:extLst>
              <a:ext uri="{FF2B5EF4-FFF2-40B4-BE49-F238E27FC236}">
                <a16:creationId xmlns:a16="http://schemas.microsoft.com/office/drawing/2014/main" id="{2E805250-42E2-031C-4874-3E799DF89A98}"/>
              </a:ext>
            </a:extLst>
          </p:cNvPr>
          <p:cNvSpPr/>
          <p:nvPr/>
        </p:nvSpPr>
        <p:spPr>
          <a:xfrm>
            <a:off x="5564458" y="2009232"/>
            <a:ext cx="658368" cy="0"/>
          </a:xfrm>
          <a:prstGeom prst="line">
            <a:avLst/>
          </a:prstGeom>
          <a:noFill/>
          <a:ln w="19050">
            <a:solidFill>
              <a:srgbClr val="8C1D40"/>
            </a:solidFill>
            <a:prstDash val="solid"/>
            <a:tailEnd type="triangle"/>
          </a:ln>
        </p:spPr>
      </p:sp>
      <p:sp>
        <p:nvSpPr>
          <p:cNvPr id="10" name="Shape 15">
            <a:extLst>
              <a:ext uri="{FF2B5EF4-FFF2-40B4-BE49-F238E27FC236}">
                <a16:creationId xmlns:a16="http://schemas.microsoft.com/office/drawing/2014/main" id="{9EB77301-70D9-9F64-BEBB-8A2831E090CB}"/>
              </a:ext>
            </a:extLst>
          </p:cNvPr>
          <p:cNvSpPr/>
          <p:nvPr/>
        </p:nvSpPr>
        <p:spPr>
          <a:xfrm>
            <a:off x="6295978" y="1652616"/>
            <a:ext cx="1993392" cy="713232"/>
          </a:xfrm>
          <a:prstGeom prst="roundRect">
            <a:avLst>
              <a:gd name="adj" fmla="val 10256"/>
            </a:avLst>
          </a:prstGeom>
          <a:solidFill>
            <a:srgbClr val="FFFFFF"/>
          </a:solidFill>
          <a:ln w="12700">
            <a:solidFill>
              <a:srgbClr val="DCCEBB"/>
            </a:solidFill>
            <a:prstDash val="solid"/>
          </a:ln>
        </p:spPr>
      </p:sp>
      <p:sp>
        <p:nvSpPr>
          <p:cNvPr id="11" name="Text 16">
            <a:extLst>
              <a:ext uri="{FF2B5EF4-FFF2-40B4-BE49-F238E27FC236}">
                <a16:creationId xmlns:a16="http://schemas.microsoft.com/office/drawing/2014/main" id="{D91B90B9-8756-47C7-4146-24B1863A94B7}"/>
              </a:ext>
            </a:extLst>
          </p:cNvPr>
          <p:cNvSpPr/>
          <p:nvPr/>
        </p:nvSpPr>
        <p:spPr>
          <a:xfrm>
            <a:off x="6387418" y="1725768"/>
            <a:ext cx="1810512" cy="566928"/>
          </a:xfrm>
          <a:prstGeom prst="rect">
            <a:avLst/>
          </a:prstGeom>
          <a:noFill/>
          <a:ln/>
        </p:spPr>
        <p:txBody>
          <a:bodyPr wrap="square" lIns="254" tIns="254" rIns="254" bIns="254" rtlCol="0" anchor="ctr">
            <a:normAutofit/>
          </a:bodyPr>
          <a:lstStyle/>
          <a:p>
            <a:pPr marL="0" indent="0" algn="ctr">
              <a:buNone/>
            </a:pPr>
            <a:r>
              <a:rPr lang="en-US" sz="1250" b="1" dirty="0">
                <a:solidFill>
                  <a:srgbClr val="242424"/>
                </a:solidFill>
                <a:latin typeface="SimSun" panose="02010600030101010101" pitchFamily="2" charset="-122"/>
                <a:ea typeface="SimSun" panose="02010600030101010101" pitchFamily="2" charset="-122"/>
                <a:cs typeface="Noto Sans CJK SC" pitchFamily="34" charset="-120"/>
              </a:rPr>
              <a:t>Linear model</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242424"/>
                </a:solidFill>
                <a:latin typeface="SimSun" panose="02010600030101010101" pitchFamily="2" charset="-122"/>
                <a:ea typeface="SimSun" panose="02010600030101010101" pitchFamily="2" charset="-122"/>
                <a:cs typeface="Noto Sans CJK SC" pitchFamily="34" charset="-120"/>
              </a:rPr>
              <a:t>SGD primary</a:t>
            </a:r>
            <a:endParaRPr lang="en-US" sz="1250" dirty="0">
              <a:latin typeface="SimSun" panose="02010600030101010101" pitchFamily="2" charset="-122"/>
              <a:ea typeface="SimSun" panose="02010600030101010101" pitchFamily="2" charset="-122"/>
            </a:endParaRPr>
          </a:p>
        </p:txBody>
      </p:sp>
      <p:sp>
        <p:nvSpPr>
          <p:cNvPr id="12" name="Shape 17">
            <a:extLst>
              <a:ext uri="{FF2B5EF4-FFF2-40B4-BE49-F238E27FC236}">
                <a16:creationId xmlns:a16="http://schemas.microsoft.com/office/drawing/2014/main" id="{86C4A374-185F-640E-4226-8C2EFBB10CF0}"/>
              </a:ext>
            </a:extLst>
          </p:cNvPr>
          <p:cNvSpPr/>
          <p:nvPr/>
        </p:nvSpPr>
        <p:spPr>
          <a:xfrm>
            <a:off x="8325946" y="2009232"/>
            <a:ext cx="640080" cy="0"/>
          </a:xfrm>
          <a:prstGeom prst="line">
            <a:avLst/>
          </a:prstGeom>
          <a:noFill/>
          <a:ln w="19050">
            <a:solidFill>
              <a:srgbClr val="8C1D40"/>
            </a:solidFill>
            <a:prstDash val="solid"/>
            <a:tailEnd type="triangle"/>
          </a:ln>
        </p:spPr>
      </p:sp>
      <p:sp>
        <p:nvSpPr>
          <p:cNvPr id="13" name="Shape 18">
            <a:extLst>
              <a:ext uri="{FF2B5EF4-FFF2-40B4-BE49-F238E27FC236}">
                <a16:creationId xmlns:a16="http://schemas.microsoft.com/office/drawing/2014/main" id="{A28149B2-7B08-500B-5148-38C8B8CB21BA}"/>
              </a:ext>
            </a:extLst>
          </p:cNvPr>
          <p:cNvSpPr/>
          <p:nvPr/>
        </p:nvSpPr>
        <p:spPr>
          <a:xfrm>
            <a:off x="9039178" y="1652616"/>
            <a:ext cx="2148840" cy="713232"/>
          </a:xfrm>
          <a:prstGeom prst="roundRect">
            <a:avLst>
              <a:gd name="adj" fmla="val 10256"/>
            </a:avLst>
          </a:prstGeom>
          <a:solidFill>
            <a:srgbClr val="FFFFFF"/>
          </a:solidFill>
          <a:ln w="12700">
            <a:solidFill>
              <a:srgbClr val="DCCEBB"/>
            </a:solidFill>
            <a:prstDash val="solid"/>
          </a:ln>
        </p:spPr>
      </p:sp>
      <p:sp>
        <p:nvSpPr>
          <p:cNvPr id="14" name="Text 19">
            <a:extLst>
              <a:ext uri="{FF2B5EF4-FFF2-40B4-BE49-F238E27FC236}">
                <a16:creationId xmlns:a16="http://schemas.microsoft.com/office/drawing/2014/main" id="{FD096D47-158B-2F3E-17A8-7C14E7638BC3}"/>
              </a:ext>
            </a:extLst>
          </p:cNvPr>
          <p:cNvSpPr/>
          <p:nvPr/>
        </p:nvSpPr>
        <p:spPr>
          <a:xfrm>
            <a:off x="9130618" y="1725768"/>
            <a:ext cx="1965960" cy="566928"/>
          </a:xfrm>
          <a:prstGeom prst="rect">
            <a:avLst/>
          </a:prstGeom>
          <a:noFill/>
          <a:ln/>
        </p:spPr>
        <p:txBody>
          <a:bodyPr wrap="square" lIns="254" tIns="254" rIns="254" bIns="254" rtlCol="0" anchor="ctr">
            <a:normAutofit/>
          </a:bodyPr>
          <a:lstStyle/>
          <a:p>
            <a:pPr marL="0" indent="0" algn="ctr">
              <a:buNone/>
            </a:pPr>
            <a:r>
              <a:rPr lang="en-US" sz="1220" b="1" dirty="0">
                <a:solidFill>
                  <a:srgbClr val="242424"/>
                </a:solidFill>
                <a:latin typeface="SimSun" panose="02010600030101010101" pitchFamily="2" charset="-122"/>
                <a:ea typeface="SimSun" panose="02010600030101010101" pitchFamily="2" charset="-122"/>
                <a:cs typeface="Noto Sans CJK SC" pitchFamily="34" charset="-120"/>
              </a:rPr>
              <a:t>Non-linear model</a:t>
            </a:r>
            <a:endParaRPr lang="en-US" sz="1220" dirty="0">
              <a:latin typeface="SimSun" panose="02010600030101010101" pitchFamily="2" charset="-122"/>
              <a:ea typeface="SimSun" panose="02010600030101010101" pitchFamily="2" charset="-122"/>
            </a:endParaRPr>
          </a:p>
          <a:p>
            <a:pPr marL="0" indent="0" algn="ctr">
              <a:buNone/>
            </a:pPr>
            <a:r>
              <a:rPr lang="en-US" sz="1220" b="1" dirty="0">
                <a:solidFill>
                  <a:srgbClr val="242424"/>
                </a:solidFill>
                <a:latin typeface="SimSun" panose="02010600030101010101" pitchFamily="2" charset="-122"/>
                <a:ea typeface="SimSun" panose="02010600030101010101" pitchFamily="2" charset="-122"/>
                <a:cs typeface="Noto Sans CJK SC" pitchFamily="34" charset="-120"/>
              </a:rPr>
              <a:t>HistGradientBoosting</a:t>
            </a:r>
            <a:endParaRPr lang="en-US" sz="1220" dirty="0">
              <a:latin typeface="SimSun" panose="02010600030101010101" pitchFamily="2" charset="-122"/>
              <a:ea typeface="SimSun" panose="02010600030101010101" pitchFamily="2" charset="-122"/>
            </a:endParaRPr>
          </a:p>
        </p:txBody>
      </p:sp>
      <p:sp>
        <p:nvSpPr>
          <p:cNvPr id="15" name="Text 20">
            <a:extLst>
              <a:ext uri="{FF2B5EF4-FFF2-40B4-BE49-F238E27FC236}">
                <a16:creationId xmlns:a16="http://schemas.microsoft.com/office/drawing/2014/main" id="{B3A1E314-CED4-61F6-B3FD-F68895E7CF48}"/>
              </a:ext>
            </a:extLst>
          </p:cNvPr>
          <p:cNvSpPr/>
          <p:nvPr/>
        </p:nvSpPr>
        <p:spPr>
          <a:xfrm>
            <a:off x="974170" y="3088224"/>
            <a:ext cx="2286000" cy="274320"/>
          </a:xfrm>
          <a:prstGeom prst="rect">
            <a:avLst/>
          </a:prstGeom>
          <a:noFill/>
          <a:ln/>
        </p:spPr>
        <p:txBody>
          <a:bodyPr wrap="square" lIns="0" tIns="0" rIns="0" bIns="0" rtlCol="0" anchor="ctr">
            <a:normAutofit/>
          </a:bodyPr>
          <a:lstStyle/>
          <a:p>
            <a:pPr marL="0" indent="0">
              <a:buNone/>
            </a:pPr>
            <a:r>
              <a:rPr lang="en-US" sz="1600" dirty="0" err="1">
                <a:latin typeface="SimSun" panose="02010600030101010101" pitchFamily="2" charset="-122"/>
                <a:ea typeface="SimSun" panose="02010600030101010101" pitchFamily="2" charset="-122"/>
                <a:cs typeface="Arial" panose="020B0604020202020204" pitchFamily="34" charset="0"/>
              </a:rPr>
              <a:t>财务特征分组</a:t>
            </a:r>
            <a:endParaRPr lang="en-US" sz="1600" dirty="0">
              <a:latin typeface="SimSun" panose="02010600030101010101" pitchFamily="2" charset="-122"/>
              <a:ea typeface="SimSun" panose="02010600030101010101" pitchFamily="2" charset="-122"/>
              <a:cs typeface="Arial" panose="020B0604020202020204" pitchFamily="34" charset="0"/>
            </a:endParaRPr>
          </a:p>
        </p:txBody>
      </p:sp>
      <p:sp>
        <p:nvSpPr>
          <p:cNvPr id="16" name="Shape 21">
            <a:extLst>
              <a:ext uri="{FF2B5EF4-FFF2-40B4-BE49-F238E27FC236}">
                <a16:creationId xmlns:a16="http://schemas.microsoft.com/office/drawing/2014/main" id="{713C1650-FBC1-EC1D-8892-D6DD06970203}"/>
              </a:ext>
            </a:extLst>
          </p:cNvPr>
          <p:cNvSpPr/>
          <p:nvPr/>
        </p:nvSpPr>
        <p:spPr>
          <a:xfrm>
            <a:off x="974170" y="3545424"/>
            <a:ext cx="1417320" cy="329184"/>
          </a:xfrm>
          <a:prstGeom prst="roundRect">
            <a:avLst>
              <a:gd name="adj" fmla="val 22222"/>
            </a:avLst>
          </a:prstGeom>
          <a:solidFill>
            <a:srgbClr val="EFE5D8"/>
          </a:solidFill>
          <a:ln w="12700">
            <a:solidFill>
              <a:srgbClr val="EFE5D8"/>
            </a:solidFill>
            <a:prstDash val="solid"/>
          </a:ln>
        </p:spPr>
      </p:sp>
      <p:sp>
        <p:nvSpPr>
          <p:cNvPr id="17" name="Text 22">
            <a:extLst>
              <a:ext uri="{FF2B5EF4-FFF2-40B4-BE49-F238E27FC236}">
                <a16:creationId xmlns:a16="http://schemas.microsoft.com/office/drawing/2014/main" id="{00C31EBB-8B22-5971-70CC-F2CE56D261F1}"/>
              </a:ext>
            </a:extLst>
          </p:cNvPr>
          <p:cNvSpPr/>
          <p:nvPr/>
        </p:nvSpPr>
        <p:spPr>
          <a:xfrm>
            <a:off x="1029034" y="3591144"/>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cs typeface="Noto Sans CJK SC" pitchFamily="34" charset="-120"/>
              </a:rPr>
              <a:t>profitability</a:t>
            </a:r>
            <a:endParaRPr lang="en-US" sz="1400" dirty="0">
              <a:latin typeface="SimSun" panose="02010600030101010101" pitchFamily="2" charset="-122"/>
              <a:ea typeface="SimSun" panose="02010600030101010101" pitchFamily="2" charset="-122"/>
            </a:endParaRPr>
          </a:p>
        </p:txBody>
      </p:sp>
      <p:sp>
        <p:nvSpPr>
          <p:cNvPr id="18" name="Shape 23">
            <a:extLst>
              <a:ext uri="{FF2B5EF4-FFF2-40B4-BE49-F238E27FC236}">
                <a16:creationId xmlns:a16="http://schemas.microsoft.com/office/drawing/2014/main" id="{71370B94-8EC0-5D53-250B-2733663F5D4C}"/>
              </a:ext>
            </a:extLst>
          </p:cNvPr>
          <p:cNvSpPr/>
          <p:nvPr/>
        </p:nvSpPr>
        <p:spPr>
          <a:xfrm>
            <a:off x="2638378" y="3545424"/>
            <a:ext cx="1417320" cy="329184"/>
          </a:xfrm>
          <a:prstGeom prst="roundRect">
            <a:avLst>
              <a:gd name="adj" fmla="val 22222"/>
            </a:avLst>
          </a:prstGeom>
          <a:solidFill>
            <a:srgbClr val="EFE5D8"/>
          </a:solidFill>
          <a:ln w="12700">
            <a:solidFill>
              <a:srgbClr val="EFE5D8"/>
            </a:solidFill>
            <a:prstDash val="solid"/>
          </a:ln>
        </p:spPr>
      </p:sp>
      <p:sp>
        <p:nvSpPr>
          <p:cNvPr id="19" name="Text 24">
            <a:extLst>
              <a:ext uri="{FF2B5EF4-FFF2-40B4-BE49-F238E27FC236}">
                <a16:creationId xmlns:a16="http://schemas.microsoft.com/office/drawing/2014/main" id="{7FA815A0-6DDC-90F5-86C6-FFC415DC95A9}"/>
              </a:ext>
            </a:extLst>
          </p:cNvPr>
          <p:cNvSpPr/>
          <p:nvPr/>
        </p:nvSpPr>
        <p:spPr>
          <a:xfrm>
            <a:off x="2693242" y="3591144"/>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rPr>
              <a:t>margin</a:t>
            </a:r>
          </a:p>
        </p:txBody>
      </p:sp>
      <p:sp>
        <p:nvSpPr>
          <p:cNvPr id="20" name="Shape 25">
            <a:extLst>
              <a:ext uri="{FF2B5EF4-FFF2-40B4-BE49-F238E27FC236}">
                <a16:creationId xmlns:a16="http://schemas.microsoft.com/office/drawing/2014/main" id="{91F06E0C-6B15-FC2A-2226-BA104C32C9A9}"/>
              </a:ext>
            </a:extLst>
          </p:cNvPr>
          <p:cNvSpPr/>
          <p:nvPr/>
        </p:nvSpPr>
        <p:spPr>
          <a:xfrm>
            <a:off x="4302586" y="3545424"/>
            <a:ext cx="1417320" cy="329184"/>
          </a:xfrm>
          <a:prstGeom prst="roundRect">
            <a:avLst>
              <a:gd name="adj" fmla="val 22222"/>
            </a:avLst>
          </a:prstGeom>
          <a:solidFill>
            <a:srgbClr val="EFE5D8"/>
          </a:solidFill>
          <a:ln w="12700">
            <a:solidFill>
              <a:srgbClr val="EFE5D8"/>
            </a:solidFill>
            <a:prstDash val="solid"/>
          </a:ln>
        </p:spPr>
      </p:sp>
      <p:sp>
        <p:nvSpPr>
          <p:cNvPr id="21" name="Text 26">
            <a:extLst>
              <a:ext uri="{FF2B5EF4-FFF2-40B4-BE49-F238E27FC236}">
                <a16:creationId xmlns:a16="http://schemas.microsoft.com/office/drawing/2014/main" id="{6521A72D-6F47-86EE-7713-5F45398F4D16}"/>
              </a:ext>
            </a:extLst>
          </p:cNvPr>
          <p:cNvSpPr/>
          <p:nvPr/>
        </p:nvSpPr>
        <p:spPr>
          <a:xfrm>
            <a:off x="4357450" y="3591144"/>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rPr>
              <a:t>leverage</a:t>
            </a:r>
          </a:p>
        </p:txBody>
      </p:sp>
      <p:sp>
        <p:nvSpPr>
          <p:cNvPr id="22" name="Shape 27">
            <a:extLst>
              <a:ext uri="{FF2B5EF4-FFF2-40B4-BE49-F238E27FC236}">
                <a16:creationId xmlns:a16="http://schemas.microsoft.com/office/drawing/2014/main" id="{AE668A6A-12B5-4EDA-3D6D-6BE85D19CE7F}"/>
              </a:ext>
            </a:extLst>
          </p:cNvPr>
          <p:cNvSpPr/>
          <p:nvPr/>
        </p:nvSpPr>
        <p:spPr>
          <a:xfrm>
            <a:off x="5966794" y="3545424"/>
            <a:ext cx="1417320" cy="329184"/>
          </a:xfrm>
          <a:prstGeom prst="roundRect">
            <a:avLst>
              <a:gd name="adj" fmla="val 22222"/>
            </a:avLst>
          </a:prstGeom>
          <a:solidFill>
            <a:srgbClr val="EFE5D8"/>
          </a:solidFill>
          <a:ln w="12700">
            <a:solidFill>
              <a:srgbClr val="EFE5D8"/>
            </a:solidFill>
            <a:prstDash val="solid"/>
          </a:ln>
        </p:spPr>
      </p:sp>
      <p:sp>
        <p:nvSpPr>
          <p:cNvPr id="23" name="Text 28">
            <a:extLst>
              <a:ext uri="{FF2B5EF4-FFF2-40B4-BE49-F238E27FC236}">
                <a16:creationId xmlns:a16="http://schemas.microsoft.com/office/drawing/2014/main" id="{62B74EC0-BF9E-17ED-AC67-9A46D167D50D}"/>
              </a:ext>
            </a:extLst>
          </p:cNvPr>
          <p:cNvSpPr/>
          <p:nvPr/>
        </p:nvSpPr>
        <p:spPr>
          <a:xfrm>
            <a:off x="6021658" y="3591144"/>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rPr>
              <a:t>liquidity</a:t>
            </a:r>
          </a:p>
        </p:txBody>
      </p:sp>
      <p:sp>
        <p:nvSpPr>
          <p:cNvPr id="24" name="Shape 29">
            <a:extLst>
              <a:ext uri="{FF2B5EF4-FFF2-40B4-BE49-F238E27FC236}">
                <a16:creationId xmlns:a16="http://schemas.microsoft.com/office/drawing/2014/main" id="{08BEFFB4-27CC-5546-3F31-322E7E15CD7C}"/>
              </a:ext>
            </a:extLst>
          </p:cNvPr>
          <p:cNvSpPr/>
          <p:nvPr/>
        </p:nvSpPr>
        <p:spPr>
          <a:xfrm>
            <a:off x="974170" y="4112352"/>
            <a:ext cx="1417320" cy="329184"/>
          </a:xfrm>
          <a:prstGeom prst="roundRect">
            <a:avLst>
              <a:gd name="adj" fmla="val 22222"/>
            </a:avLst>
          </a:prstGeom>
          <a:solidFill>
            <a:srgbClr val="EFE5D8"/>
          </a:solidFill>
          <a:ln w="12700">
            <a:solidFill>
              <a:srgbClr val="EFE5D8"/>
            </a:solidFill>
            <a:prstDash val="solid"/>
          </a:ln>
        </p:spPr>
      </p:sp>
      <p:sp>
        <p:nvSpPr>
          <p:cNvPr id="25" name="Text 30">
            <a:extLst>
              <a:ext uri="{FF2B5EF4-FFF2-40B4-BE49-F238E27FC236}">
                <a16:creationId xmlns:a16="http://schemas.microsoft.com/office/drawing/2014/main" id="{0DFFE74F-63D8-65AE-A262-9BBBE2A4E542}"/>
              </a:ext>
            </a:extLst>
          </p:cNvPr>
          <p:cNvSpPr/>
          <p:nvPr/>
        </p:nvSpPr>
        <p:spPr>
          <a:xfrm>
            <a:off x="1029034" y="4158072"/>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rPr>
              <a:t>scale</a:t>
            </a:r>
          </a:p>
        </p:txBody>
      </p:sp>
      <p:sp>
        <p:nvSpPr>
          <p:cNvPr id="26" name="Shape 31">
            <a:extLst>
              <a:ext uri="{FF2B5EF4-FFF2-40B4-BE49-F238E27FC236}">
                <a16:creationId xmlns:a16="http://schemas.microsoft.com/office/drawing/2014/main" id="{0E3790D4-1EF5-2F6F-3E6D-CC5374F2BC17}"/>
              </a:ext>
            </a:extLst>
          </p:cNvPr>
          <p:cNvSpPr/>
          <p:nvPr/>
        </p:nvSpPr>
        <p:spPr>
          <a:xfrm>
            <a:off x="2638378" y="4112352"/>
            <a:ext cx="1417320" cy="329184"/>
          </a:xfrm>
          <a:prstGeom prst="roundRect">
            <a:avLst>
              <a:gd name="adj" fmla="val 22222"/>
            </a:avLst>
          </a:prstGeom>
          <a:solidFill>
            <a:srgbClr val="EFE5D8"/>
          </a:solidFill>
          <a:ln w="12700">
            <a:solidFill>
              <a:srgbClr val="EFE5D8"/>
            </a:solidFill>
            <a:prstDash val="solid"/>
          </a:ln>
        </p:spPr>
      </p:sp>
      <p:sp>
        <p:nvSpPr>
          <p:cNvPr id="27" name="Text 32">
            <a:extLst>
              <a:ext uri="{FF2B5EF4-FFF2-40B4-BE49-F238E27FC236}">
                <a16:creationId xmlns:a16="http://schemas.microsoft.com/office/drawing/2014/main" id="{250F128D-ABE9-7952-C660-6DCD1D5632A7}"/>
              </a:ext>
            </a:extLst>
          </p:cNvPr>
          <p:cNvSpPr/>
          <p:nvPr/>
        </p:nvSpPr>
        <p:spPr>
          <a:xfrm>
            <a:off x="2693242" y="4158072"/>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cs typeface="Noto Sans CJK SC" pitchFamily="34" charset="-120"/>
              </a:rPr>
              <a:t>cash </a:t>
            </a:r>
            <a:r>
              <a:rPr lang="en-US" sz="1400" b="1" dirty="0">
                <a:solidFill>
                  <a:srgbClr val="333333"/>
                </a:solidFill>
                <a:latin typeface="SimSun" panose="02010600030101010101" pitchFamily="2" charset="-122"/>
                <a:ea typeface="SimSun" panose="02010600030101010101" pitchFamily="2" charset="-122"/>
              </a:rPr>
              <a:t>flow</a:t>
            </a:r>
          </a:p>
        </p:txBody>
      </p:sp>
      <p:sp>
        <p:nvSpPr>
          <p:cNvPr id="28" name="Shape 33">
            <a:extLst>
              <a:ext uri="{FF2B5EF4-FFF2-40B4-BE49-F238E27FC236}">
                <a16:creationId xmlns:a16="http://schemas.microsoft.com/office/drawing/2014/main" id="{940D9F99-0739-27B8-EDD9-E8F1FFE6B0E1}"/>
              </a:ext>
            </a:extLst>
          </p:cNvPr>
          <p:cNvSpPr/>
          <p:nvPr/>
        </p:nvSpPr>
        <p:spPr>
          <a:xfrm>
            <a:off x="4302586" y="4112352"/>
            <a:ext cx="1417320" cy="329184"/>
          </a:xfrm>
          <a:prstGeom prst="roundRect">
            <a:avLst>
              <a:gd name="adj" fmla="val 22222"/>
            </a:avLst>
          </a:prstGeom>
          <a:solidFill>
            <a:srgbClr val="C8A45D"/>
          </a:solidFill>
          <a:ln w="12700">
            <a:solidFill>
              <a:srgbClr val="C8A45D"/>
            </a:solidFill>
            <a:prstDash val="solid"/>
          </a:ln>
        </p:spPr>
      </p:sp>
      <p:sp>
        <p:nvSpPr>
          <p:cNvPr id="29" name="Text 34">
            <a:extLst>
              <a:ext uri="{FF2B5EF4-FFF2-40B4-BE49-F238E27FC236}">
                <a16:creationId xmlns:a16="http://schemas.microsoft.com/office/drawing/2014/main" id="{64813ED6-A9A3-8A46-FDCB-359FB580F786}"/>
              </a:ext>
            </a:extLst>
          </p:cNvPr>
          <p:cNvSpPr/>
          <p:nvPr/>
        </p:nvSpPr>
        <p:spPr>
          <a:xfrm>
            <a:off x="4357450" y="4158072"/>
            <a:ext cx="1307592"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imSun" panose="02010600030101010101" pitchFamily="2" charset="-122"/>
                <a:ea typeface="SimSun" panose="02010600030101010101" pitchFamily="2" charset="-122"/>
                <a:cs typeface="Noto Sans CJK SC" pitchFamily="34" charset="-120"/>
              </a:rPr>
              <a:t>peer quality</a:t>
            </a:r>
            <a:endParaRPr lang="en-US" sz="1400" dirty="0">
              <a:latin typeface="SimSun" panose="02010600030101010101" pitchFamily="2" charset="-122"/>
              <a:ea typeface="SimSun" panose="02010600030101010101" pitchFamily="2" charset="-122"/>
            </a:endParaRPr>
          </a:p>
        </p:txBody>
      </p:sp>
      <p:sp>
        <p:nvSpPr>
          <p:cNvPr id="30" name="Shape 35">
            <a:extLst>
              <a:ext uri="{FF2B5EF4-FFF2-40B4-BE49-F238E27FC236}">
                <a16:creationId xmlns:a16="http://schemas.microsoft.com/office/drawing/2014/main" id="{F40E9F9F-D2CC-D0A7-5C45-6D12838ADE8A}"/>
              </a:ext>
            </a:extLst>
          </p:cNvPr>
          <p:cNvSpPr/>
          <p:nvPr/>
        </p:nvSpPr>
        <p:spPr>
          <a:xfrm>
            <a:off x="5966794" y="4112352"/>
            <a:ext cx="1417320" cy="329184"/>
          </a:xfrm>
          <a:prstGeom prst="roundRect">
            <a:avLst>
              <a:gd name="adj" fmla="val 22222"/>
            </a:avLst>
          </a:prstGeom>
          <a:solidFill>
            <a:srgbClr val="C8A45D"/>
          </a:solidFill>
          <a:ln w="12700">
            <a:solidFill>
              <a:srgbClr val="C8A45D"/>
            </a:solidFill>
            <a:prstDash val="solid"/>
          </a:ln>
        </p:spPr>
      </p:sp>
      <p:sp>
        <p:nvSpPr>
          <p:cNvPr id="31" name="Text 36">
            <a:extLst>
              <a:ext uri="{FF2B5EF4-FFF2-40B4-BE49-F238E27FC236}">
                <a16:creationId xmlns:a16="http://schemas.microsoft.com/office/drawing/2014/main" id="{03B1BF0F-CC36-1DD4-FDC7-1057962AFBF9}"/>
              </a:ext>
            </a:extLst>
          </p:cNvPr>
          <p:cNvSpPr/>
          <p:nvPr/>
        </p:nvSpPr>
        <p:spPr>
          <a:xfrm>
            <a:off x="6021658" y="4158072"/>
            <a:ext cx="1307592" cy="237744"/>
          </a:xfrm>
          <a:prstGeom prst="rect">
            <a:avLst/>
          </a:prstGeom>
          <a:noFill/>
          <a:ln/>
        </p:spPr>
        <p:txBody>
          <a:bodyPr wrap="square" lIns="0" tIns="0" rIns="0" bIns="0" rtlCol="0" anchor="ctr">
            <a:normAutofit fontScale="92500"/>
          </a:bodyPr>
          <a:lstStyle/>
          <a:p>
            <a:pPr marL="0" indent="0" algn="ctr">
              <a:buNone/>
            </a:pPr>
            <a:r>
              <a:rPr lang="en-US" sz="1100" b="1" dirty="0">
                <a:solidFill>
                  <a:srgbClr val="FFFFFF"/>
                </a:solidFill>
                <a:latin typeface="SimSun" panose="02010600030101010101" pitchFamily="2" charset="-122"/>
                <a:ea typeface="SimSun" panose="02010600030101010101" pitchFamily="2" charset="-122"/>
                <a:cs typeface="Noto Sans CJK SC" pitchFamily="34" charset="-120"/>
              </a:rPr>
              <a:t>multiple confidence</a:t>
            </a:r>
            <a:endParaRPr lang="en-US" sz="1100" dirty="0">
              <a:latin typeface="SimSun" panose="02010600030101010101" pitchFamily="2" charset="-122"/>
              <a:ea typeface="SimSun" panose="02010600030101010101" pitchFamily="2" charset="-122"/>
            </a:endParaRPr>
          </a:p>
        </p:txBody>
      </p:sp>
      <p:sp>
        <p:nvSpPr>
          <p:cNvPr id="33" name="Text 38">
            <a:extLst>
              <a:ext uri="{FF2B5EF4-FFF2-40B4-BE49-F238E27FC236}">
                <a16:creationId xmlns:a16="http://schemas.microsoft.com/office/drawing/2014/main" id="{EEC71809-B68D-B610-C9F2-5C6CC61530BF}"/>
              </a:ext>
            </a:extLst>
          </p:cNvPr>
          <p:cNvSpPr/>
          <p:nvPr/>
        </p:nvSpPr>
        <p:spPr>
          <a:xfrm>
            <a:off x="8289370" y="3385405"/>
            <a:ext cx="2697480" cy="1088136"/>
          </a:xfrm>
          <a:prstGeom prst="rect">
            <a:avLst/>
          </a:prstGeom>
          <a:noFill/>
          <a:ln>
            <a:solidFill>
              <a:schemeClr val="tx1"/>
            </a:solidFill>
          </a:ln>
        </p:spPr>
        <p:txBody>
          <a:bodyPr wrap="square" lIns="254" tIns="254" rIns="254" bIns="254" rtlCol="0" anchor="ctr">
            <a:normAutofit/>
          </a:bodyPr>
          <a:lstStyle/>
          <a:p>
            <a:pPr marL="0" indent="0" algn="ctr">
              <a:buNone/>
            </a:pPr>
            <a:r>
              <a:rPr lang="en-US" sz="1300" b="1" dirty="0">
                <a:solidFill>
                  <a:srgbClr val="8C1D40"/>
                </a:solidFill>
                <a:latin typeface="SimSun" panose="02010600030101010101" pitchFamily="2" charset="-122"/>
                <a:ea typeface="SimSun" panose="02010600030101010101" pitchFamily="2" charset="-122"/>
                <a:cs typeface="Noto Sans CJK SC" pitchFamily="34" charset="-120"/>
              </a:rPr>
              <a:t>Time-based out-of-sample</a:t>
            </a:r>
            <a:endParaRPr lang="en-US" sz="1300" dirty="0">
              <a:latin typeface="SimSun" panose="02010600030101010101" pitchFamily="2" charset="-122"/>
              <a:ea typeface="SimSun" panose="02010600030101010101" pitchFamily="2" charset="-122"/>
            </a:endParaRPr>
          </a:p>
          <a:p>
            <a:pPr marL="0" indent="0" algn="ctr">
              <a:buNone/>
            </a:pPr>
            <a:r>
              <a:rPr lang="en-US" sz="1300" b="1" dirty="0">
                <a:solidFill>
                  <a:srgbClr val="8C1D40"/>
                </a:solidFill>
                <a:latin typeface="SimSun" panose="02010600030101010101" pitchFamily="2" charset="-122"/>
                <a:ea typeface="SimSun" panose="02010600030101010101" pitchFamily="2" charset="-122"/>
                <a:cs typeface="Noto Sans CJK SC" pitchFamily="34" charset="-120"/>
              </a:rPr>
              <a:t>只使用目标 quarter 之前的历史季度训练</a:t>
            </a:r>
            <a:endParaRPr lang="en-US" sz="1300" dirty="0">
              <a:latin typeface="SimSun" panose="02010600030101010101" pitchFamily="2" charset="-122"/>
              <a:ea typeface="SimSun" panose="02010600030101010101" pitchFamily="2" charset="-122"/>
            </a:endParaRPr>
          </a:p>
          <a:p>
            <a:pPr marL="0" indent="0" algn="ctr">
              <a:buNone/>
            </a:pPr>
            <a:r>
              <a:rPr lang="en-US" sz="1300" b="1" dirty="0">
                <a:solidFill>
                  <a:srgbClr val="8C1D40"/>
                </a:solidFill>
                <a:latin typeface="SimSun" panose="02010600030101010101" pitchFamily="2" charset="-122"/>
                <a:ea typeface="SimSun" panose="02010600030101010101" pitchFamily="2" charset="-122"/>
                <a:cs typeface="Noto Sans CJK SC" pitchFamily="34" charset="-120"/>
              </a:rPr>
              <a:t>减少 look-ahead bias</a:t>
            </a:r>
            <a:endParaRPr lang="en-US" sz="1300" dirty="0">
              <a:latin typeface="SimSun" panose="02010600030101010101" pitchFamily="2" charset="-122"/>
              <a:ea typeface="SimSun" panose="02010600030101010101" pitchFamily="2" charset="-122"/>
            </a:endParaRPr>
          </a:p>
        </p:txBody>
      </p:sp>
      <p:sp>
        <p:nvSpPr>
          <p:cNvPr id="34" name="Text 39">
            <a:extLst>
              <a:ext uri="{FF2B5EF4-FFF2-40B4-BE49-F238E27FC236}">
                <a16:creationId xmlns:a16="http://schemas.microsoft.com/office/drawing/2014/main" id="{27A4339E-15A2-D87C-0937-F3639BF9A5A9}"/>
              </a:ext>
            </a:extLst>
          </p:cNvPr>
          <p:cNvSpPr/>
          <p:nvPr/>
        </p:nvSpPr>
        <p:spPr>
          <a:xfrm>
            <a:off x="1038178" y="5282784"/>
            <a:ext cx="9966960" cy="320040"/>
          </a:xfrm>
          <a:prstGeom prst="rect">
            <a:avLst/>
          </a:prstGeom>
          <a:noFill/>
          <a:ln/>
        </p:spPr>
        <p:txBody>
          <a:bodyPr wrap="square" lIns="0" tIns="0" rIns="0" bIns="0" rtlCol="0" anchor="ctr">
            <a:normAutofit/>
          </a:bodyPr>
          <a:lstStyle/>
          <a:p>
            <a:pPr marL="0" indent="0">
              <a:buNone/>
            </a:pPr>
            <a:r>
              <a:rPr lang="en-US" sz="1430" b="1" dirty="0">
                <a:solidFill>
                  <a:srgbClr val="8C1D40"/>
                </a:solidFill>
                <a:latin typeface="SimSun" panose="02010600030101010101" pitchFamily="2" charset="-122"/>
                <a:ea typeface="SimSun" panose="02010600030101010101" pitchFamily="2" charset="-122"/>
                <a:cs typeface="Noto Sans CJK SC" pitchFamily="34" charset="-120"/>
              </a:rPr>
              <a:t>这个模块学习市场中实际观测到的 valuation multiple；它不是 DCF，也不直接计算内在价值。</a:t>
            </a:r>
            <a:endParaRPr lang="en-US" sz="1430" dirty="0">
              <a:latin typeface="SimSun" panose="02010600030101010101" pitchFamily="2" charset="-122"/>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D63D5-B3E5-FD07-FE9C-E0CFD7E55320}"/>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1F5804B-5F75-1A2A-0E73-5BB1ADA68051}"/>
              </a:ext>
            </a:extLst>
          </p:cNvPr>
          <p:cNvSpPr>
            <a:spLocks noGrp="1"/>
          </p:cNvSpPr>
          <p:nvPr>
            <p:ph type="sldNum" sz="quarter" idx="4"/>
          </p:nvPr>
        </p:nvSpPr>
        <p:spPr/>
        <p:txBody>
          <a:bodyPr/>
          <a:lstStyle/>
          <a:p>
            <a:r>
              <a:rPr lang="en-US" altLang="zh-CN" dirty="0">
                <a:sym typeface="Arial" panose="020B0604020202020204" pitchFamily="34" charset="0"/>
              </a:rPr>
              <a:t>&lt; </a:t>
            </a:r>
            <a:fld id="{A548B57D-AE10-4CF7-A9DF-59FEFA91B28E}" type="slidenum">
              <a:rPr lang="zh-CN" altLang="en-US" dirty="0" smtClean="0">
                <a:sym typeface="Arial" panose="020B0604020202020204" pitchFamily="34" charset="0"/>
              </a:rPr>
              <a:t>6</a:t>
            </a:fld>
            <a:r>
              <a:rPr lang="zh-CN" altLang="en-US" dirty="0">
                <a:sym typeface="Arial" panose="020B0604020202020204" pitchFamily="34" charset="0"/>
              </a:rPr>
              <a:t> </a:t>
            </a:r>
            <a:r>
              <a:rPr lang="en-US" altLang="zh-CN" dirty="0">
                <a:sym typeface="Arial" panose="020B0604020202020204" pitchFamily="34" charset="0"/>
              </a:rPr>
              <a:t>&gt;</a:t>
            </a:r>
            <a:endParaRPr lang="zh-CN" altLang="en-US" dirty="0">
              <a:sym typeface="Arial" panose="020B0604020202020204" pitchFamily="34" charset="0"/>
            </a:endParaRPr>
          </a:p>
        </p:txBody>
      </p:sp>
      <p:sp>
        <p:nvSpPr>
          <p:cNvPr id="2" name="标题 1">
            <a:extLst>
              <a:ext uri="{FF2B5EF4-FFF2-40B4-BE49-F238E27FC236}">
                <a16:creationId xmlns:a16="http://schemas.microsoft.com/office/drawing/2014/main" id="{D1B773FE-11A5-4758-D58C-CFA07EB40CBA}"/>
              </a:ext>
            </a:extLst>
          </p:cNvPr>
          <p:cNvSpPr>
            <a:spLocks noGrp="1"/>
          </p:cNvSpPr>
          <p:nvPr>
            <p:ph type="title"/>
          </p:nvPr>
        </p:nvSpPr>
        <p:spPr/>
        <p:txBody>
          <a:bodyPr>
            <a:normAutofit/>
          </a:bodyPr>
          <a:lstStyle/>
          <a:p>
            <a:r>
              <a:rPr lang="ja-JP" altLang="en-US">
                <a:sym typeface="Arial" panose="020B0604020202020204" pitchFamily="34" charset="0"/>
              </a:rPr>
              <a:t>模型预测与可比公司市场倍数结合</a:t>
            </a:r>
            <a:endParaRPr lang="zh-CN" altLang="en-US" dirty="0">
              <a:sym typeface="Arial" panose="020B0604020202020204" pitchFamily="34" charset="0"/>
            </a:endParaRPr>
          </a:p>
        </p:txBody>
      </p:sp>
      <p:sp>
        <p:nvSpPr>
          <p:cNvPr id="37" name="Shape 9">
            <a:extLst>
              <a:ext uri="{FF2B5EF4-FFF2-40B4-BE49-F238E27FC236}">
                <a16:creationId xmlns:a16="http://schemas.microsoft.com/office/drawing/2014/main" id="{7AF836C2-0FF0-5700-9726-3D1890827DC3}"/>
              </a:ext>
            </a:extLst>
          </p:cNvPr>
          <p:cNvSpPr/>
          <p:nvPr/>
        </p:nvSpPr>
        <p:spPr>
          <a:xfrm>
            <a:off x="858644" y="1441853"/>
            <a:ext cx="2834640" cy="960120"/>
          </a:xfrm>
          <a:prstGeom prst="roundRect">
            <a:avLst>
              <a:gd name="adj" fmla="val 7619"/>
            </a:avLst>
          </a:prstGeom>
          <a:solidFill>
            <a:srgbClr val="FFFFFF"/>
          </a:solidFill>
          <a:ln w="12700">
            <a:solidFill>
              <a:srgbClr val="DCCEBB"/>
            </a:solidFill>
            <a:prstDash val="solid"/>
          </a:ln>
        </p:spPr>
      </p:sp>
      <p:sp>
        <p:nvSpPr>
          <p:cNvPr id="38" name="Text 10">
            <a:extLst>
              <a:ext uri="{FF2B5EF4-FFF2-40B4-BE49-F238E27FC236}">
                <a16:creationId xmlns:a16="http://schemas.microsoft.com/office/drawing/2014/main" id="{DCAE2AF3-7E05-932A-B17A-9C5DF5E03D5A}"/>
              </a:ext>
            </a:extLst>
          </p:cNvPr>
          <p:cNvSpPr/>
          <p:nvPr/>
        </p:nvSpPr>
        <p:spPr>
          <a:xfrm>
            <a:off x="950084" y="1515005"/>
            <a:ext cx="2651760" cy="813816"/>
          </a:xfrm>
          <a:prstGeom prst="rect">
            <a:avLst/>
          </a:prstGeom>
          <a:noFill/>
          <a:ln/>
        </p:spPr>
        <p:txBody>
          <a:bodyPr wrap="square" lIns="254" tIns="254" rIns="254" bIns="254" rtlCol="0" anchor="ctr">
            <a:normAutofit/>
          </a:bodyPr>
          <a:lstStyle/>
          <a:p>
            <a:pPr marL="0" indent="0" algn="ctr">
              <a:buNone/>
            </a:pPr>
            <a:r>
              <a:rPr lang="en-US" sz="1300" b="1" dirty="0">
                <a:solidFill>
                  <a:srgbClr val="242424"/>
                </a:solidFill>
                <a:latin typeface="SimSun" panose="02010600030101010101" pitchFamily="2" charset="-122"/>
                <a:ea typeface="SimSun" panose="02010600030101010101" pitchFamily="2" charset="-122"/>
                <a:cs typeface="Noto Sans CJK SC" pitchFamily="34" charset="-120"/>
              </a:rPr>
              <a:t>Model predicted</a:t>
            </a:r>
            <a:endParaRPr lang="en-US" sz="1300" dirty="0">
              <a:latin typeface="SimSun" panose="02010600030101010101" pitchFamily="2" charset="-122"/>
              <a:ea typeface="SimSun" panose="02010600030101010101" pitchFamily="2" charset="-122"/>
            </a:endParaRPr>
          </a:p>
          <a:p>
            <a:pPr marL="0" indent="0" algn="ctr">
              <a:buNone/>
            </a:pPr>
            <a:r>
              <a:rPr lang="en-US" sz="1300" b="1" dirty="0">
                <a:solidFill>
                  <a:srgbClr val="242424"/>
                </a:solidFill>
                <a:latin typeface="SimSun" panose="02010600030101010101" pitchFamily="2" charset="-122"/>
                <a:ea typeface="SimSun" panose="02010600030101010101" pitchFamily="2" charset="-122"/>
                <a:cs typeface="Noto Sans CJK SC" pitchFamily="34" charset="-120"/>
              </a:rPr>
              <a:t>log multiple</a:t>
            </a:r>
            <a:endParaRPr lang="en-US" sz="1300" dirty="0">
              <a:latin typeface="SimSun" panose="02010600030101010101" pitchFamily="2" charset="-122"/>
              <a:ea typeface="SimSun" panose="02010600030101010101" pitchFamily="2" charset="-122"/>
            </a:endParaRPr>
          </a:p>
          <a:p>
            <a:pPr marL="0" indent="0" algn="ctr">
              <a:buNone/>
            </a:pPr>
            <a:r>
              <a:rPr lang="en-US" sz="1300" b="1" dirty="0">
                <a:solidFill>
                  <a:srgbClr val="242424"/>
                </a:solidFill>
                <a:latin typeface="SimSun" panose="02010600030101010101" pitchFamily="2" charset="-122"/>
                <a:ea typeface="SimSun" panose="02010600030101010101" pitchFamily="2" charset="-122"/>
                <a:cs typeface="Noto Sans CJK SC" pitchFamily="34" charset="-120"/>
              </a:rPr>
              <a:t>反映目标企业自身财务特征</a:t>
            </a:r>
            <a:endParaRPr lang="en-US" sz="1300" dirty="0">
              <a:latin typeface="SimSun" panose="02010600030101010101" pitchFamily="2" charset="-122"/>
              <a:ea typeface="SimSun" panose="02010600030101010101" pitchFamily="2" charset="-122"/>
            </a:endParaRPr>
          </a:p>
        </p:txBody>
      </p:sp>
      <p:sp>
        <p:nvSpPr>
          <p:cNvPr id="39" name="Shape 11">
            <a:extLst>
              <a:ext uri="{FF2B5EF4-FFF2-40B4-BE49-F238E27FC236}">
                <a16:creationId xmlns:a16="http://schemas.microsoft.com/office/drawing/2014/main" id="{5230612A-EFD4-FC6A-2DA2-39203720D9E1}"/>
              </a:ext>
            </a:extLst>
          </p:cNvPr>
          <p:cNvSpPr/>
          <p:nvPr/>
        </p:nvSpPr>
        <p:spPr>
          <a:xfrm>
            <a:off x="4561964" y="1441853"/>
            <a:ext cx="2834640" cy="960120"/>
          </a:xfrm>
          <a:prstGeom prst="roundRect">
            <a:avLst>
              <a:gd name="adj" fmla="val 7619"/>
            </a:avLst>
          </a:prstGeom>
          <a:solidFill>
            <a:srgbClr val="FFFDF7"/>
          </a:solidFill>
          <a:ln w="12700">
            <a:solidFill>
              <a:srgbClr val="8C1D40"/>
            </a:solidFill>
            <a:prstDash val="solid"/>
          </a:ln>
        </p:spPr>
      </p:sp>
      <p:sp>
        <p:nvSpPr>
          <p:cNvPr id="40" name="Text 12">
            <a:extLst>
              <a:ext uri="{FF2B5EF4-FFF2-40B4-BE49-F238E27FC236}">
                <a16:creationId xmlns:a16="http://schemas.microsoft.com/office/drawing/2014/main" id="{2D7658D9-A340-FC32-8DBE-16B0D2FC03AB}"/>
              </a:ext>
            </a:extLst>
          </p:cNvPr>
          <p:cNvSpPr/>
          <p:nvPr/>
        </p:nvSpPr>
        <p:spPr>
          <a:xfrm>
            <a:off x="4653404" y="1515005"/>
            <a:ext cx="2651760" cy="813816"/>
          </a:xfrm>
          <a:prstGeom prst="rect">
            <a:avLst/>
          </a:prstGeom>
          <a:noFill/>
          <a:ln/>
        </p:spPr>
        <p:txBody>
          <a:bodyPr wrap="square" lIns="254" tIns="254" rIns="254" bIns="254" rtlCol="0" anchor="ctr">
            <a:normAutofit/>
          </a:bodyPr>
          <a:lstStyle/>
          <a:p>
            <a:pPr marL="0" indent="0" algn="ctr">
              <a:buNone/>
            </a:pPr>
            <a:r>
              <a:rPr lang="en-US" sz="1300" b="1" dirty="0">
                <a:solidFill>
                  <a:srgbClr val="8C1D40"/>
                </a:solidFill>
                <a:latin typeface="SimSun" panose="02010600030101010101" pitchFamily="2" charset="-122"/>
                <a:ea typeface="SimSun" panose="02010600030101010101" pitchFamily="2" charset="-122"/>
                <a:cs typeface="Noto Sans CJK SC" pitchFamily="34" charset="-120"/>
              </a:rPr>
              <a:t>Peer weighted median</a:t>
            </a:r>
            <a:endParaRPr lang="en-US" sz="1300" dirty="0">
              <a:latin typeface="SimSun" panose="02010600030101010101" pitchFamily="2" charset="-122"/>
              <a:ea typeface="SimSun" panose="02010600030101010101" pitchFamily="2" charset="-122"/>
            </a:endParaRPr>
          </a:p>
          <a:p>
            <a:pPr marL="0" indent="0" algn="ctr">
              <a:buNone/>
            </a:pPr>
            <a:r>
              <a:rPr lang="en-US" sz="1300" b="1" dirty="0">
                <a:solidFill>
                  <a:srgbClr val="8C1D40"/>
                </a:solidFill>
                <a:latin typeface="SimSun" panose="02010600030101010101" pitchFamily="2" charset="-122"/>
                <a:ea typeface="SimSun" panose="02010600030101010101" pitchFamily="2" charset="-122"/>
                <a:cs typeface="Noto Sans CJK SC" pitchFamily="34" charset="-120"/>
              </a:rPr>
              <a:t>log multiple</a:t>
            </a:r>
            <a:endParaRPr lang="en-US" sz="1300" dirty="0">
              <a:latin typeface="SimSun" panose="02010600030101010101" pitchFamily="2" charset="-122"/>
              <a:ea typeface="SimSun" panose="02010600030101010101" pitchFamily="2" charset="-122"/>
            </a:endParaRPr>
          </a:p>
          <a:p>
            <a:pPr marL="0" indent="0" algn="ctr">
              <a:buNone/>
            </a:pPr>
            <a:r>
              <a:rPr lang="en-US" sz="1300" b="1" dirty="0">
                <a:solidFill>
                  <a:srgbClr val="8C1D40"/>
                </a:solidFill>
                <a:latin typeface="SimSun" panose="02010600030101010101" pitchFamily="2" charset="-122"/>
                <a:ea typeface="SimSun" panose="02010600030101010101" pitchFamily="2" charset="-122"/>
                <a:cs typeface="Noto Sans CJK SC" pitchFamily="34" charset="-120"/>
              </a:rPr>
              <a:t>反映相似企业市场估值</a:t>
            </a:r>
            <a:endParaRPr lang="en-US" sz="1300" dirty="0">
              <a:latin typeface="SimSun" panose="02010600030101010101" pitchFamily="2" charset="-122"/>
              <a:ea typeface="SimSun" panose="02010600030101010101" pitchFamily="2" charset="-122"/>
            </a:endParaRPr>
          </a:p>
        </p:txBody>
      </p:sp>
      <p:sp>
        <p:nvSpPr>
          <p:cNvPr id="41" name="Shape 13">
            <a:extLst>
              <a:ext uri="{FF2B5EF4-FFF2-40B4-BE49-F238E27FC236}">
                <a16:creationId xmlns:a16="http://schemas.microsoft.com/office/drawing/2014/main" id="{F4709A22-19A5-31F3-D856-4ED7680FF6C9}"/>
              </a:ext>
            </a:extLst>
          </p:cNvPr>
          <p:cNvSpPr/>
          <p:nvPr/>
        </p:nvSpPr>
        <p:spPr>
          <a:xfrm>
            <a:off x="3739004" y="1926485"/>
            <a:ext cx="731520" cy="0"/>
          </a:xfrm>
          <a:prstGeom prst="line">
            <a:avLst/>
          </a:prstGeom>
          <a:noFill/>
          <a:ln w="19050">
            <a:solidFill>
              <a:srgbClr val="8C1D40"/>
            </a:solidFill>
            <a:prstDash val="solid"/>
            <a:tailEnd type="triangle"/>
          </a:ln>
        </p:spPr>
      </p:sp>
      <p:sp>
        <p:nvSpPr>
          <p:cNvPr id="42" name="Shape 14">
            <a:extLst>
              <a:ext uri="{FF2B5EF4-FFF2-40B4-BE49-F238E27FC236}">
                <a16:creationId xmlns:a16="http://schemas.microsoft.com/office/drawing/2014/main" id="{AD285513-3B50-B67B-8E8E-69450A4D6691}"/>
              </a:ext>
            </a:extLst>
          </p:cNvPr>
          <p:cNvSpPr/>
          <p:nvPr/>
        </p:nvSpPr>
        <p:spPr>
          <a:xfrm>
            <a:off x="7442324" y="1926485"/>
            <a:ext cx="731520" cy="0"/>
          </a:xfrm>
          <a:prstGeom prst="line">
            <a:avLst/>
          </a:prstGeom>
          <a:noFill/>
          <a:ln w="19050">
            <a:solidFill>
              <a:srgbClr val="8C1D40"/>
            </a:solidFill>
            <a:prstDash val="solid"/>
            <a:tailEnd type="triangle"/>
          </a:ln>
        </p:spPr>
      </p:sp>
      <p:sp>
        <p:nvSpPr>
          <p:cNvPr id="43" name="Shape 15">
            <a:extLst>
              <a:ext uri="{FF2B5EF4-FFF2-40B4-BE49-F238E27FC236}">
                <a16:creationId xmlns:a16="http://schemas.microsoft.com/office/drawing/2014/main" id="{8B9FDEB4-D23B-9055-41A6-8C688C8FC6D3}"/>
              </a:ext>
            </a:extLst>
          </p:cNvPr>
          <p:cNvSpPr/>
          <p:nvPr/>
        </p:nvSpPr>
        <p:spPr>
          <a:xfrm>
            <a:off x="8265284" y="1441853"/>
            <a:ext cx="2788920" cy="960120"/>
          </a:xfrm>
          <a:prstGeom prst="roundRect">
            <a:avLst>
              <a:gd name="adj" fmla="val 7619"/>
            </a:avLst>
          </a:prstGeom>
          <a:solidFill>
            <a:srgbClr val="8C1D40"/>
          </a:solidFill>
          <a:ln w="12700">
            <a:solidFill>
              <a:srgbClr val="8C1D40"/>
            </a:solidFill>
            <a:prstDash val="solid"/>
          </a:ln>
        </p:spPr>
      </p:sp>
      <p:sp>
        <p:nvSpPr>
          <p:cNvPr id="44" name="Text 16">
            <a:extLst>
              <a:ext uri="{FF2B5EF4-FFF2-40B4-BE49-F238E27FC236}">
                <a16:creationId xmlns:a16="http://schemas.microsoft.com/office/drawing/2014/main" id="{EAD48B74-6BC7-262C-E896-2615B1D3EAA8}"/>
              </a:ext>
            </a:extLst>
          </p:cNvPr>
          <p:cNvSpPr/>
          <p:nvPr/>
        </p:nvSpPr>
        <p:spPr>
          <a:xfrm>
            <a:off x="8356724" y="1515005"/>
            <a:ext cx="2606040" cy="813816"/>
          </a:xfrm>
          <a:prstGeom prst="rect">
            <a:avLst/>
          </a:prstGeom>
          <a:noFill/>
          <a:ln/>
        </p:spPr>
        <p:txBody>
          <a:bodyPr wrap="square" lIns="254" tIns="254" rIns="254" bIns="254" rtlCol="0" anchor="ctr">
            <a:normAutofit/>
          </a:bodyPr>
          <a:lstStyle/>
          <a:p>
            <a:pPr marL="0" indent="0" algn="ctr">
              <a:buNone/>
            </a:pPr>
            <a:r>
              <a:rPr lang="en-US" sz="1500" b="1" dirty="0">
                <a:solidFill>
                  <a:srgbClr val="FFFFFF"/>
                </a:solidFill>
                <a:latin typeface="SimSun" panose="02010600030101010101" pitchFamily="2" charset="-122"/>
                <a:ea typeface="SimSun" panose="02010600030101010101" pitchFamily="2" charset="-122"/>
                <a:cs typeface="Noto Sans CJK SC" pitchFamily="34" charset="-120"/>
              </a:rPr>
              <a:t>Blended predicted multiple</a:t>
            </a:r>
            <a:endParaRPr lang="en-US" sz="1500" dirty="0">
              <a:latin typeface="SimSun" panose="02010600030101010101" pitchFamily="2" charset="-122"/>
              <a:ea typeface="SimSun" panose="02010600030101010101" pitchFamily="2" charset="-122"/>
            </a:endParaRPr>
          </a:p>
          <a:p>
            <a:pPr marL="0" indent="0" algn="ctr">
              <a:buNone/>
            </a:pPr>
            <a:r>
              <a:rPr lang="en-US" sz="1500" b="1" dirty="0">
                <a:solidFill>
                  <a:srgbClr val="FFFFFF"/>
                </a:solidFill>
                <a:latin typeface="SimSun" panose="02010600030101010101" pitchFamily="2" charset="-122"/>
                <a:ea typeface="SimSun" panose="02010600030101010101" pitchFamily="2" charset="-122"/>
                <a:cs typeface="Noto Sans CJK SC" pitchFamily="34" charset="-120"/>
              </a:rPr>
              <a:t>model + peer anchor</a:t>
            </a:r>
            <a:endParaRPr lang="en-US" sz="1500" dirty="0">
              <a:latin typeface="SimSun" panose="02010600030101010101" pitchFamily="2" charset="-122"/>
              <a:ea typeface="SimSun" panose="02010600030101010101" pitchFamily="2" charset="-122"/>
            </a:endParaRPr>
          </a:p>
        </p:txBody>
      </p:sp>
      <p:sp>
        <p:nvSpPr>
          <p:cNvPr id="45" name="Text 17">
            <a:extLst>
              <a:ext uri="{FF2B5EF4-FFF2-40B4-BE49-F238E27FC236}">
                <a16:creationId xmlns:a16="http://schemas.microsoft.com/office/drawing/2014/main" id="{71A81185-C4D2-CFFB-B0F7-E2E1F12A307B}"/>
              </a:ext>
            </a:extLst>
          </p:cNvPr>
          <p:cNvSpPr/>
          <p:nvPr/>
        </p:nvSpPr>
        <p:spPr>
          <a:xfrm>
            <a:off x="858644" y="2904893"/>
            <a:ext cx="2377440" cy="310896"/>
          </a:xfrm>
          <a:prstGeom prst="rect">
            <a:avLst/>
          </a:prstGeom>
          <a:noFill/>
          <a:ln/>
        </p:spPr>
        <p:txBody>
          <a:bodyPr wrap="square" lIns="0" tIns="0" rIns="0" bIns="0" rtlCol="0" anchor="ctr">
            <a:normAutofit/>
          </a:bodyPr>
          <a:lstStyle/>
          <a:p>
            <a:pPr marL="0" indent="0">
              <a:buNone/>
            </a:pP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Peer weight 调整逻辑</a:t>
            </a:r>
            <a:endParaRPr lang="en-US" sz="1600" dirty="0">
              <a:latin typeface="SimSun" panose="02010600030101010101" pitchFamily="2" charset="-122"/>
              <a:ea typeface="SimSun" panose="02010600030101010101" pitchFamily="2" charset="-122"/>
            </a:endParaRPr>
          </a:p>
        </p:txBody>
      </p:sp>
      <p:sp>
        <p:nvSpPr>
          <p:cNvPr id="46" name="Shape 18">
            <a:extLst>
              <a:ext uri="{FF2B5EF4-FFF2-40B4-BE49-F238E27FC236}">
                <a16:creationId xmlns:a16="http://schemas.microsoft.com/office/drawing/2014/main" id="{646D8008-33C5-8444-429E-75232FA5DDAF}"/>
              </a:ext>
            </a:extLst>
          </p:cNvPr>
          <p:cNvSpPr/>
          <p:nvPr/>
        </p:nvSpPr>
        <p:spPr>
          <a:xfrm>
            <a:off x="858644" y="3362093"/>
            <a:ext cx="1600200" cy="347472"/>
          </a:xfrm>
          <a:prstGeom prst="roundRect">
            <a:avLst>
              <a:gd name="adj" fmla="val 21053"/>
            </a:avLst>
          </a:prstGeom>
          <a:solidFill>
            <a:srgbClr val="517C5B"/>
          </a:solidFill>
          <a:ln w="12700">
            <a:solidFill>
              <a:srgbClr val="517C5B"/>
            </a:solidFill>
            <a:prstDash val="solid"/>
          </a:ln>
        </p:spPr>
      </p:sp>
      <p:sp>
        <p:nvSpPr>
          <p:cNvPr id="47" name="Text 19">
            <a:extLst>
              <a:ext uri="{FF2B5EF4-FFF2-40B4-BE49-F238E27FC236}">
                <a16:creationId xmlns:a16="http://schemas.microsoft.com/office/drawing/2014/main" id="{E224EE0F-E974-4D9D-B20F-41BE1E2D78B6}"/>
              </a:ext>
            </a:extLst>
          </p:cNvPr>
          <p:cNvSpPr/>
          <p:nvPr/>
        </p:nvSpPr>
        <p:spPr>
          <a:xfrm>
            <a:off x="913508" y="3407813"/>
            <a:ext cx="1490472"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imSun" panose="02010600030101010101" pitchFamily="2" charset="-122"/>
                <a:ea typeface="SimSun" panose="02010600030101010101" pitchFamily="2" charset="-122"/>
                <a:cs typeface="Noto Sans CJK SC" pitchFamily="34" charset="-120"/>
              </a:rPr>
              <a:t>↑ peer 数量充足</a:t>
            </a:r>
            <a:endParaRPr lang="en-US" sz="1400" dirty="0">
              <a:latin typeface="SimSun" panose="02010600030101010101" pitchFamily="2" charset="-122"/>
              <a:ea typeface="SimSun" panose="02010600030101010101" pitchFamily="2" charset="-122"/>
            </a:endParaRPr>
          </a:p>
        </p:txBody>
      </p:sp>
      <p:sp>
        <p:nvSpPr>
          <p:cNvPr id="48" name="Shape 20">
            <a:extLst>
              <a:ext uri="{FF2B5EF4-FFF2-40B4-BE49-F238E27FC236}">
                <a16:creationId xmlns:a16="http://schemas.microsoft.com/office/drawing/2014/main" id="{E92CA83E-A90C-6F73-830B-9FB13C44D4B9}"/>
              </a:ext>
            </a:extLst>
          </p:cNvPr>
          <p:cNvSpPr/>
          <p:nvPr/>
        </p:nvSpPr>
        <p:spPr>
          <a:xfrm>
            <a:off x="2733164" y="3362093"/>
            <a:ext cx="1600200" cy="347472"/>
          </a:xfrm>
          <a:prstGeom prst="roundRect">
            <a:avLst>
              <a:gd name="adj" fmla="val 21053"/>
            </a:avLst>
          </a:prstGeom>
          <a:solidFill>
            <a:srgbClr val="517C5B"/>
          </a:solidFill>
          <a:ln w="12700">
            <a:solidFill>
              <a:srgbClr val="517C5B"/>
            </a:solidFill>
            <a:prstDash val="solid"/>
          </a:ln>
        </p:spPr>
      </p:sp>
      <p:sp>
        <p:nvSpPr>
          <p:cNvPr id="49" name="Text 21">
            <a:extLst>
              <a:ext uri="{FF2B5EF4-FFF2-40B4-BE49-F238E27FC236}">
                <a16:creationId xmlns:a16="http://schemas.microsoft.com/office/drawing/2014/main" id="{D5E953FD-3128-0284-6499-28927A5FC3CF}"/>
              </a:ext>
            </a:extLst>
          </p:cNvPr>
          <p:cNvSpPr/>
          <p:nvPr/>
        </p:nvSpPr>
        <p:spPr>
          <a:xfrm>
            <a:off x="2788028" y="3407813"/>
            <a:ext cx="1490472"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imSun" panose="02010600030101010101" pitchFamily="2" charset="-122"/>
                <a:ea typeface="SimSun" panose="02010600030101010101" pitchFamily="2" charset="-122"/>
                <a:cs typeface="Noto Sans CJK SC" pitchFamily="34" charset="-120"/>
              </a:rPr>
              <a:t>↑ dispersion 小</a:t>
            </a:r>
            <a:endParaRPr lang="en-US" sz="1400" dirty="0">
              <a:latin typeface="SimSun" panose="02010600030101010101" pitchFamily="2" charset="-122"/>
              <a:ea typeface="SimSun" panose="02010600030101010101" pitchFamily="2" charset="-122"/>
            </a:endParaRPr>
          </a:p>
        </p:txBody>
      </p:sp>
      <p:sp>
        <p:nvSpPr>
          <p:cNvPr id="50" name="Shape 22">
            <a:extLst>
              <a:ext uri="{FF2B5EF4-FFF2-40B4-BE49-F238E27FC236}">
                <a16:creationId xmlns:a16="http://schemas.microsoft.com/office/drawing/2014/main" id="{A9B754FD-12A3-D38C-B5B3-BCDD0F601F1C}"/>
              </a:ext>
            </a:extLst>
          </p:cNvPr>
          <p:cNvSpPr/>
          <p:nvPr/>
        </p:nvSpPr>
        <p:spPr>
          <a:xfrm>
            <a:off x="4607684" y="3362093"/>
            <a:ext cx="1600200" cy="347472"/>
          </a:xfrm>
          <a:prstGeom prst="roundRect">
            <a:avLst>
              <a:gd name="adj" fmla="val 21053"/>
            </a:avLst>
          </a:prstGeom>
          <a:solidFill>
            <a:srgbClr val="517C5B"/>
          </a:solidFill>
          <a:ln w="12700">
            <a:solidFill>
              <a:srgbClr val="517C5B"/>
            </a:solidFill>
            <a:prstDash val="solid"/>
          </a:ln>
        </p:spPr>
      </p:sp>
      <p:sp>
        <p:nvSpPr>
          <p:cNvPr id="51" name="Text 23">
            <a:extLst>
              <a:ext uri="{FF2B5EF4-FFF2-40B4-BE49-F238E27FC236}">
                <a16:creationId xmlns:a16="http://schemas.microsoft.com/office/drawing/2014/main" id="{1A7C65F8-9FDB-F5F1-B5D0-C232D38C8108}"/>
              </a:ext>
            </a:extLst>
          </p:cNvPr>
          <p:cNvSpPr/>
          <p:nvPr/>
        </p:nvSpPr>
        <p:spPr>
          <a:xfrm>
            <a:off x="4662548" y="3407813"/>
            <a:ext cx="1490472"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imSun" panose="02010600030101010101" pitchFamily="2" charset="-122"/>
                <a:ea typeface="SimSun" panose="02010600030101010101" pitchFamily="2" charset="-122"/>
                <a:cs typeface="Noto Sans CJK SC" pitchFamily="34" charset="-120"/>
              </a:rPr>
              <a:t>↑ 同细分行业</a:t>
            </a:r>
            <a:endParaRPr lang="en-US" sz="1400" dirty="0">
              <a:latin typeface="SimSun" panose="02010600030101010101" pitchFamily="2" charset="-122"/>
              <a:ea typeface="SimSun" panose="02010600030101010101" pitchFamily="2" charset="-122"/>
            </a:endParaRPr>
          </a:p>
        </p:txBody>
      </p:sp>
      <p:sp>
        <p:nvSpPr>
          <p:cNvPr id="52" name="Shape 24">
            <a:extLst>
              <a:ext uri="{FF2B5EF4-FFF2-40B4-BE49-F238E27FC236}">
                <a16:creationId xmlns:a16="http://schemas.microsoft.com/office/drawing/2014/main" id="{73B45881-3186-2399-9CBB-A913FDB83399}"/>
              </a:ext>
            </a:extLst>
          </p:cNvPr>
          <p:cNvSpPr/>
          <p:nvPr/>
        </p:nvSpPr>
        <p:spPr>
          <a:xfrm>
            <a:off x="6482204" y="3362093"/>
            <a:ext cx="1600200" cy="347472"/>
          </a:xfrm>
          <a:prstGeom prst="roundRect">
            <a:avLst>
              <a:gd name="adj" fmla="val 21053"/>
            </a:avLst>
          </a:prstGeom>
          <a:solidFill>
            <a:srgbClr val="517C5B"/>
          </a:solidFill>
          <a:ln w="12700">
            <a:solidFill>
              <a:srgbClr val="517C5B"/>
            </a:solidFill>
            <a:prstDash val="solid"/>
          </a:ln>
        </p:spPr>
      </p:sp>
      <p:sp>
        <p:nvSpPr>
          <p:cNvPr id="53" name="Text 25">
            <a:extLst>
              <a:ext uri="{FF2B5EF4-FFF2-40B4-BE49-F238E27FC236}">
                <a16:creationId xmlns:a16="http://schemas.microsoft.com/office/drawing/2014/main" id="{51D07988-A913-F5DF-96A1-3BF12C79F414}"/>
              </a:ext>
            </a:extLst>
          </p:cNvPr>
          <p:cNvSpPr/>
          <p:nvPr/>
        </p:nvSpPr>
        <p:spPr>
          <a:xfrm>
            <a:off x="6537068" y="3407813"/>
            <a:ext cx="1490472"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imSun" panose="02010600030101010101" pitchFamily="2" charset="-122"/>
                <a:ea typeface="SimSun" panose="02010600030101010101" pitchFamily="2" charset="-122"/>
                <a:cs typeface="Noto Sans CJK SC" pitchFamily="34" charset="-120"/>
              </a:rPr>
              <a:t>↑ similarity 高</a:t>
            </a:r>
            <a:endParaRPr lang="en-US" sz="1400" dirty="0">
              <a:latin typeface="SimSun" panose="02010600030101010101" pitchFamily="2" charset="-122"/>
              <a:ea typeface="SimSun" panose="02010600030101010101" pitchFamily="2" charset="-122"/>
            </a:endParaRPr>
          </a:p>
        </p:txBody>
      </p:sp>
      <p:sp>
        <p:nvSpPr>
          <p:cNvPr id="54" name="Shape 26">
            <a:extLst>
              <a:ext uri="{FF2B5EF4-FFF2-40B4-BE49-F238E27FC236}">
                <a16:creationId xmlns:a16="http://schemas.microsoft.com/office/drawing/2014/main" id="{86B78939-D912-CC9B-91E0-DE6A7B8B5306}"/>
              </a:ext>
            </a:extLst>
          </p:cNvPr>
          <p:cNvSpPr/>
          <p:nvPr/>
        </p:nvSpPr>
        <p:spPr>
          <a:xfrm>
            <a:off x="858644" y="3919877"/>
            <a:ext cx="1600200" cy="347472"/>
          </a:xfrm>
          <a:prstGeom prst="roundRect">
            <a:avLst>
              <a:gd name="adj" fmla="val 21053"/>
            </a:avLst>
          </a:prstGeom>
          <a:solidFill>
            <a:srgbClr val="DCCEBB"/>
          </a:solidFill>
          <a:ln w="12700">
            <a:solidFill>
              <a:srgbClr val="DCCEBB"/>
            </a:solidFill>
            <a:prstDash val="solid"/>
          </a:ln>
        </p:spPr>
      </p:sp>
      <p:sp>
        <p:nvSpPr>
          <p:cNvPr id="55" name="Text 27">
            <a:extLst>
              <a:ext uri="{FF2B5EF4-FFF2-40B4-BE49-F238E27FC236}">
                <a16:creationId xmlns:a16="http://schemas.microsoft.com/office/drawing/2014/main" id="{3DE63173-25DC-E07E-4367-EC584AD50643}"/>
              </a:ext>
            </a:extLst>
          </p:cNvPr>
          <p:cNvSpPr/>
          <p:nvPr/>
        </p:nvSpPr>
        <p:spPr>
          <a:xfrm>
            <a:off x="913508" y="3965597"/>
            <a:ext cx="1490472" cy="256032"/>
          </a:xfrm>
          <a:prstGeom prst="rect">
            <a:avLst/>
          </a:prstGeom>
          <a:noFill/>
          <a:ln/>
        </p:spPr>
        <p:txBody>
          <a:bodyPr wrap="square" lIns="0" tIns="0" rIns="0" bIns="0" rtlCol="0" anchor="ctr">
            <a:normAutofit fontScale="92500"/>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cs typeface="Noto Sans CJK SC" pitchFamily="34" charset="-120"/>
              </a:rPr>
              <a:t>↓ fallback 来源宽</a:t>
            </a:r>
            <a:endParaRPr lang="en-US" sz="1400" dirty="0">
              <a:latin typeface="SimSun" panose="02010600030101010101" pitchFamily="2" charset="-122"/>
              <a:ea typeface="SimSun" panose="02010600030101010101" pitchFamily="2" charset="-122"/>
            </a:endParaRPr>
          </a:p>
        </p:txBody>
      </p:sp>
      <p:sp>
        <p:nvSpPr>
          <p:cNvPr id="56" name="Shape 28">
            <a:extLst>
              <a:ext uri="{FF2B5EF4-FFF2-40B4-BE49-F238E27FC236}">
                <a16:creationId xmlns:a16="http://schemas.microsoft.com/office/drawing/2014/main" id="{B781D098-06F6-955D-3DB2-0FAE3CA8D8F3}"/>
              </a:ext>
            </a:extLst>
          </p:cNvPr>
          <p:cNvSpPr/>
          <p:nvPr/>
        </p:nvSpPr>
        <p:spPr>
          <a:xfrm>
            <a:off x="2733164" y="3919877"/>
            <a:ext cx="1600200" cy="347472"/>
          </a:xfrm>
          <a:prstGeom prst="roundRect">
            <a:avLst>
              <a:gd name="adj" fmla="val 21053"/>
            </a:avLst>
          </a:prstGeom>
          <a:solidFill>
            <a:srgbClr val="DCCEBB"/>
          </a:solidFill>
          <a:ln w="12700">
            <a:solidFill>
              <a:srgbClr val="DCCEBB"/>
            </a:solidFill>
            <a:prstDash val="solid"/>
          </a:ln>
        </p:spPr>
      </p:sp>
      <p:sp>
        <p:nvSpPr>
          <p:cNvPr id="57" name="Text 29">
            <a:extLst>
              <a:ext uri="{FF2B5EF4-FFF2-40B4-BE49-F238E27FC236}">
                <a16:creationId xmlns:a16="http://schemas.microsoft.com/office/drawing/2014/main" id="{9E85F584-7232-A0E6-9542-4C3177DEA1DE}"/>
              </a:ext>
            </a:extLst>
          </p:cNvPr>
          <p:cNvSpPr/>
          <p:nvPr/>
        </p:nvSpPr>
        <p:spPr>
          <a:xfrm>
            <a:off x="2788028" y="3965597"/>
            <a:ext cx="1490472" cy="256032"/>
          </a:xfrm>
          <a:prstGeom prst="rect">
            <a:avLst/>
          </a:prstGeom>
          <a:noFill/>
          <a:ln/>
        </p:spPr>
        <p:txBody>
          <a:bodyPr wrap="square" lIns="0" tIns="0" rIns="0" bIns="0" rtlCol="0" anchor="ctr">
            <a:normAutofit/>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cs typeface="Noto Sans CJK SC" pitchFamily="34" charset="-120"/>
              </a:rPr>
              <a:t>↓ similarity 低</a:t>
            </a:r>
            <a:endParaRPr lang="en-US" sz="1400" dirty="0">
              <a:latin typeface="SimSun" panose="02010600030101010101" pitchFamily="2" charset="-122"/>
              <a:ea typeface="SimSun" panose="02010600030101010101" pitchFamily="2" charset="-122"/>
            </a:endParaRPr>
          </a:p>
        </p:txBody>
      </p:sp>
      <p:sp>
        <p:nvSpPr>
          <p:cNvPr id="58" name="Shape 30">
            <a:extLst>
              <a:ext uri="{FF2B5EF4-FFF2-40B4-BE49-F238E27FC236}">
                <a16:creationId xmlns:a16="http://schemas.microsoft.com/office/drawing/2014/main" id="{3FFAAF03-3F9C-C9F6-5A02-8792E4CFB1C7}"/>
              </a:ext>
            </a:extLst>
          </p:cNvPr>
          <p:cNvSpPr/>
          <p:nvPr/>
        </p:nvSpPr>
        <p:spPr>
          <a:xfrm>
            <a:off x="4607684" y="3919877"/>
            <a:ext cx="1600200" cy="347472"/>
          </a:xfrm>
          <a:prstGeom prst="roundRect">
            <a:avLst>
              <a:gd name="adj" fmla="val 21053"/>
            </a:avLst>
          </a:prstGeom>
          <a:solidFill>
            <a:srgbClr val="DCCEBB"/>
          </a:solidFill>
          <a:ln w="12700">
            <a:solidFill>
              <a:srgbClr val="DCCEBB"/>
            </a:solidFill>
            <a:prstDash val="solid"/>
          </a:ln>
        </p:spPr>
      </p:sp>
      <p:sp>
        <p:nvSpPr>
          <p:cNvPr id="59" name="Text 31">
            <a:extLst>
              <a:ext uri="{FF2B5EF4-FFF2-40B4-BE49-F238E27FC236}">
                <a16:creationId xmlns:a16="http://schemas.microsoft.com/office/drawing/2014/main" id="{D99463E5-810D-95DC-4EDF-49C627FCBAFA}"/>
              </a:ext>
            </a:extLst>
          </p:cNvPr>
          <p:cNvSpPr/>
          <p:nvPr/>
        </p:nvSpPr>
        <p:spPr>
          <a:xfrm>
            <a:off x="4662548" y="3965597"/>
            <a:ext cx="1490472" cy="256032"/>
          </a:xfrm>
          <a:prstGeom prst="rect">
            <a:avLst/>
          </a:prstGeom>
          <a:noFill/>
          <a:ln/>
        </p:spPr>
        <p:txBody>
          <a:bodyPr wrap="square" lIns="0" tIns="0" rIns="0" bIns="0" rtlCol="0" anchor="ctr">
            <a:normAutofit fontScale="92500"/>
          </a:bodyPr>
          <a:lstStyle/>
          <a:p>
            <a:pPr marL="0" indent="0" algn="ctr">
              <a:buNone/>
            </a:pPr>
            <a:r>
              <a:rPr lang="en-US" sz="1400" b="1" dirty="0">
                <a:solidFill>
                  <a:srgbClr val="333333"/>
                </a:solidFill>
                <a:latin typeface="SimSun" panose="02010600030101010101" pitchFamily="2" charset="-122"/>
                <a:ea typeface="SimSun" panose="02010600030101010101" pitchFamily="2" charset="-122"/>
                <a:cs typeface="Noto Sans CJK SC" pitchFamily="34" charset="-120"/>
              </a:rPr>
              <a:t>↓ mixed multiple</a:t>
            </a:r>
            <a:endParaRPr lang="en-US" sz="1400" dirty="0">
              <a:latin typeface="SimSun" panose="02010600030101010101" pitchFamily="2" charset="-122"/>
              <a:ea typeface="SimSun" panose="02010600030101010101" pitchFamily="2" charset="-122"/>
            </a:endParaRPr>
          </a:p>
        </p:txBody>
      </p:sp>
      <p:sp>
        <p:nvSpPr>
          <p:cNvPr id="60" name="Shape 32">
            <a:extLst>
              <a:ext uri="{FF2B5EF4-FFF2-40B4-BE49-F238E27FC236}">
                <a16:creationId xmlns:a16="http://schemas.microsoft.com/office/drawing/2014/main" id="{F4017A49-2607-4DE6-8FB5-A1E44EEAF05B}"/>
              </a:ext>
            </a:extLst>
          </p:cNvPr>
          <p:cNvSpPr/>
          <p:nvPr/>
        </p:nvSpPr>
        <p:spPr>
          <a:xfrm>
            <a:off x="6482204" y="3919877"/>
            <a:ext cx="1600200" cy="347472"/>
          </a:xfrm>
          <a:prstGeom prst="roundRect">
            <a:avLst>
              <a:gd name="adj" fmla="val 21053"/>
            </a:avLst>
          </a:prstGeom>
          <a:solidFill>
            <a:srgbClr val="DCCEBB"/>
          </a:solidFill>
          <a:ln w="12700">
            <a:solidFill>
              <a:srgbClr val="DCCEBB"/>
            </a:solidFill>
            <a:prstDash val="solid"/>
          </a:ln>
        </p:spPr>
      </p:sp>
      <p:sp>
        <p:nvSpPr>
          <p:cNvPr id="61" name="Text 33">
            <a:extLst>
              <a:ext uri="{FF2B5EF4-FFF2-40B4-BE49-F238E27FC236}">
                <a16:creationId xmlns:a16="http://schemas.microsoft.com/office/drawing/2014/main" id="{DFEC45B6-5943-3CE5-F9B3-0ABF3347306B}"/>
              </a:ext>
            </a:extLst>
          </p:cNvPr>
          <p:cNvSpPr/>
          <p:nvPr/>
        </p:nvSpPr>
        <p:spPr>
          <a:xfrm>
            <a:off x="6537068" y="3965597"/>
            <a:ext cx="1490472" cy="256032"/>
          </a:xfrm>
          <a:prstGeom prst="rect">
            <a:avLst/>
          </a:prstGeom>
          <a:noFill/>
          <a:ln/>
        </p:spPr>
        <p:txBody>
          <a:bodyPr wrap="square" lIns="0" tIns="0" rIns="0" bIns="0" rtlCol="0" anchor="ctr">
            <a:normAutofit fontScale="92500"/>
          </a:bodyPr>
          <a:lstStyle/>
          <a:p>
            <a:pPr marL="0" indent="0" algn="ctr">
              <a:buNone/>
            </a:pPr>
            <a:r>
              <a:rPr lang="en-US" sz="1000" b="1" dirty="0">
                <a:solidFill>
                  <a:srgbClr val="333333"/>
                </a:solidFill>
                <a:latin typeface="SimSun" panose="02010600030101010101" pitchFamily="2" charset="-122"/>
                <a:ea typeface="SimSun" panose="02010600030101010101" pitchFamily="2" charset="-122"/>
                <a:cs typeface="Noto Sans CJK SC" pitchFamily="34" charset="-120"/>
              </a:rPr>
              <a:t>↓ selection confidence 低</a:t>
            </a:r>
            <a:endParaRPr lang="en-US" sz="1000" dirty="0">
              <a:latin typeface="SimSun" panose="02010600030101010101" pitchFamily="2" charset="-122"/>
              <a:ea typeface="SimSun" panose="02010600030101010101" pitchFamily="2" charset="-122"/>
            </a:endParaRPr>
          </a:p>
        </p:txBody>
      </p:sp>
      <p:sp>
        <p:nvSpPr>
          <p:cNvPr id="62" name="Shape 34">
            <a:extLst>
              <a:ext uri="{FF2B5EF4-FFF2-40B4-BE49-F238E27FC236}">
                <a16:creationId xmlns:a16="http://schemas.microsoft.com/office/drawing/2014/main" id="{B0A418ED-CEF8-8E43-83AD-01A5FEF18CC4}"/>
              </a:ext>
            </a:extLst>
          </p:cNvPr>
          <p:cNvSpPr/>
          <p:nvPr/>
        </p:nvSpPr>
        <p:spPr>
          <a:xfrm>
            <a:off x="8356724" y="2950612"/>
            <a:ext cx="2697480" cy="1558049"/>
          </a:xfrm>
          <a:prstGeom prst="roundRect">
            <a:avLst>
              <a:gd name="adj" fmla="val 9091"/>
            </a:avLst>
          </a:prstGeom>
          <a:solidFill>
            <a:srgbClr val="FFFFFF"/>
          </a:solidFill>
          <a:ln w="12700">
            <a:solidFill>
              <a:srgbClr val="DCCEBB"/>
            </a:solidFill>
            <a:prstDash val="solid"/>
          </a:ln>
        </p:spPr>
      </p:sp>
      <mc:AlternateContent xmlns:mc="http://schemas.openxmlformats.org/markup-compatibility/2006">
        <mc:Choice xmlns:a14="http://schemas.microsoft.com/office/drawing/2010/main" Requires="a14">
          <p:sp>
            <p:nvSpPr>
              <p:cNvPr id="63" name="Text 35">
                <a:extLst>
                  <a:ext uri="{FF2B5EF4-FFF2-40B4-BE49-F238E27FC236}">
                    <a16:creationId xmlns:a16="http://schemas.microsoft.com/office/drawing/2014/main" id="{0DCD1E06-B045-FB63-FC92-9FEC07D298F8}"/>
                  </a:ext>
                </a:extLst>
              </p:cNvPr>
              <p:cNvSpPr/>
              <p:nvPr/>
            </p:nvSpPr>
            <p:spPr>
              <a:xfrm>
                <a:off x="8448164" y="3023764"/>
                <a:ext cx="2514600" cy="1411745"/>
              </a:xfrm>
              <a:prstGeom prst="rect">
                <a:avLst/>
              </a:prstGeom>
              <a:noFill/>
              <a:ln/>
            </p:spPr>
            <p:txBody>
              <a:bodyPr wrap="square" lIns="254" tIns="254" rIns="254" bIns="254" rtlCol="0" anchor="ctr">
                <a:normAutofit fontScale="85000" lnSpcReduction="10000"/>
              </a:bodyPr>
              <a:lstStyle/>
              <a:p>
                <a:pPr marL="0" indent="0" algn="ctr">
                  <a:buNone/>
                </a:pP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Base × predicted multiple</a:t>
                </a:r>
              </a:p>
              <a:p>
                <a:pPr marL="0" indent="0" algn="ctr">
                  <a:buNone/>
                </a:pPr>
                <a:endParaRPr lang="en-US" sz="1600" dirty="0">
                  <a:latin typeface="SimSun" panose="02010600030101010101" pitchFamily="2" charset="-122"/>
                  <a:ea typeface="SimSun" panose="02010600030101010101" pitchFamily="2" charset="-122"/>
                </a:endParaRPr>
              </a:p>
              <a:p>
                <a:pPr algn="ct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P/E</a:t>
                </a:r>
                <a:r>
                  <a:rPr lang="ko-KR" altLang="en-US" sz="1600" b="1" dirty="0">
                    <a:solidFill>
                      <a:srgbClr val="242424"/>
                    </a:solidFill>
                    <a:latin typeface="SimSun" panose="02010600030101010101" pitchFamily="2" charset="-122"/>
                    <a:ea typeface="SimSun" panose="02010600030101010101" pitchFamily="2" charset="-122"/>
                    <a:cs typeface="Noto Sans CJK SC" pitchFamily="34" charset="-120"/>
                  </a:rPr>
                  <a:t> </a:t>
                </a:r>
                <a14:m>
                  <m:oMath xmlns:m="http://schemas.openxmlformats.org/officeDocument/2006/math">
                    <m:r>
                      <a:rPr lang="en-US" altLang="zh-CN" sz="1600" b="1" i="1">
                        <a:solidFill>
                          <a:srgbClr val="242424"/>
                        </a:solidFill>
                        <a:latin typeface="Cambria Math" panose="02040503050406030204" pitchFamily="18" charset="0"/>
                        <a:ea typeface="Cambria Math" panose="02040503050406030204" pitchFamily="18" charset="0"/>
                        <a:cs typeface="Noto Sans CJK SC" pitchFamily="34" charset="-120"/>
                      </a:rPr>
                      <m:t>×</m:t>
                    </m:r>
                  </m:oMath>
                </a14:m>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 net profit </a:t>
                </a:r>
              </a:p>
              <a:p>
                <a:pPr algn="ct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P/B</a:t>
                </a:r>
                <a:r>
                  <a:rPr lang="zh-CN" altLang="en-US" sz="1600" b="1" dirty="0">
                    <a:solidFill>
                      <a:srgbClr val="242424"/>
                    </a:solidFill>
                    <a:latin typeface="SimSun" panose="02010600030101010101" pitchFamily="2" charset="-122"/>
                    <a:ea typeface="SimSun" panose="02010600030101010101" pitchFamily="2" charset="-122"/>
                    <a:cs typeface="Noto Sans CJK SC" pitchFamily="34" charset="-120"/>
                  </a:rPr>
                  <a:t> </a:t>
                </a:r>
                <a14:m>
                  <m:oMath xmlns:m="http://schemas.openxmlformats.org/officeDocument/2006/math">
                    <m:r>
                      <a:rPr lang="en-US" altLang="zh-CN" sz="1600" b="1" i="1">
                        <a:solidFill>
                          <a:srgbClr val="242424"/>
                        </a:solidFill>
                        <a:latin typeface="Cambria Math" panose="02040503050406030204" pitchFamily="18" charset="0"/>
                        <a:ea typeface="Cambria Math" panose="02040503050406030204" pitchFamily="18" charset="0"/>
                        <a:cs typeface="Noto Sans CJK SC" pitchFamily="34" charset="-120"/>
                      </a:rPr>
                      <m:t>×</m:t>
                    </m:r>
                  </m:oMath>
                </a14:m>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 equity</a:t>
                </a:r>
                <a:endParaRPr lang="en-US" sz="1600" dirty="0">
                  <a:latin typeface="SimSun" panose="02010600030101010101" pitchFamily="2" charset="-122"/>
                  <a:ea typeface="SimSun" panose="02010600030101010101" pitchFamily="2" charset="-122"/>
                </a:endParaRPr>
              </a:p>
              <a:p>
                <a:pPr algn="ct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P/S</a:t>
                </a:r>
                <a:r>
                  <a:rPr lang="zh-CN" altLang="en-US" sz="1600" b="1" dirty="0">
                    <a:solidFill>
                      <a:srgbClr val="242424"/>
                    </a:solidFill>
                    <a:latin typeface="SimSun" panose="02010600030101010101" pitchFamily="2" charset="-122"/>
                    <a:ea typeface="SimSun" panose="02010600030101010101" pitchFamily="2" charset="-122"/>
                    <a:cs typeface="Noto Sans CJK SC" pitchFamily="34" charset="-120"/>
                  </a:rPr>
                  <a:t> </a:t>
                </a:r>
                <a14:m>
                  <m:oMath xmlns:m="http://schemas.openxmlformats.org/officeDocument/2006/math">
                    <m:r>
                      <a:rPr lang="en-US" altLang="zh-CN" sz="1600" b="1" i="1">
                        <a:solidFill>
                          <a:srgbClr val="242424"/>
                        </a:solidFill>
                        <a:latin typeface="Cambria Math" panose="02040503050406030204" pitchFamily="18" charset="0"/>
                        <a:ea typeface="Cambria Math" panose="02040503050406030204" pitchFamily="18" charset="0"/>
                        <a:cs typeface="Noto Sans CJK SC" pitchFamily="34" charset="-120"/>
                      </a:rPr>
                      <m:t>×</m:t>
                    </m:r>
                  </m:oMath>
                </a14:m>
                <a:r>
                  <a:rPr lang="zh-CN" altLang="en-US" sz="1600" b="1" dirty="0">
                    <a:solidFill>
                      <a:srgbClr val="242424"/>
                    </a:solidFill>
                    <a:latin typeface="SimSun" panose="02010600030101010101" pitchFamily="2" charset="-122"/>
                    <a:ea typeface="SimSun" panose="02010600030101010101" pitchFamily="2" charset="-122"/>
                    <a:cs typeface="Noto Sans CJK SC" pitchFamily="34" charset="-120"/>
                  </a:rPr>
                  <a:t> </a:t>
                </a: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revenue </a:t>
                </a:r>
              </a:p>
              <a:p>
                <a:pPr marL="0" indent="0" algn="ctr">
                  <a:buNone/>
                </a:pPr>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EV/EBITDA</a:t>
                </a:r>
                <a:r>
                  <a:rPr lang="zh-CN" altLang="en-US" sz="1600" b="1" dirty="0">
                    <a:solidFill>
                      <a:srgbClr val="242424"/>
                    </a:solidFill>
                    <a:latin typeface="SimSun" panose="02010600030101010101" pitchFamily="2" charset="-122"/>
                    <a:ea typeface="SimSun" panose="02010600030101010101" pitchFamily="2" charset="-122"/>
                    <a:cs typeface="Noto Sans CJK SC" pitchFamily="34" charset="-120"/>
                  </a:rPr>
                  <a:t> </a:t>
                </a:r>
                <a14:m>
                  <m:oMath xmlns:m="http://schemas.openxmlformats.org/officeDocument/2006/math">
                    <m:r>
                      <a:rPr lang="en-US" altLang="zh-CN" sz="1600" b="1" i="1" smtClean="0">
                        <a:solidFill>
                          <a:srgbClr val="242424"/>
                        </a:solidFill>
                        <a:latin typeface="Cambria Math" panose="02040503050406030204" pitchFamily="18" charset="0"/>
                        <a:ea typeface="Cambria Math" panose="02040503050406030204" pitchFamily="18" charset="0"/>
                        <a:cs typeface="Noto Sans CJK SC" pitchFamily="34" charset="-120"/>
                      </a:rPr>
                      <m:t>×</m:t>
                    </m:r>
                  </m:oMath>
                </a14:m>
                <a:r>
                  <a:rPr lang="en-US" sz="1600" b="1" dirty="0">
                    <a:solidFill>
                      <a:srgbClr val="242424"/>
                    </a:solidFill>
                    <a:latin typeface="SimSun" panose="02010600030101010101" pitchFamily="2" charset="-122"/>
                    <a:ea typeface="SimSun" panose="02010600030101010101" pitchFamily="2" charset="-122"/>
                    <a:cs typeface="Noto Sans CJK SC" pitchFamily="34" charset="-120"/>
                  </a:rPr>
                  <a:t> EBITDA</a:t>
                </a:r>
                <a:endParaRPr lang="en-US" sz="1600" dirty="0">
                  <a:latin typeface="SimSun" panose="02010600030101010101" pitchFamily="2" charset="-122"/>
                  <a:ea typeface="SimSun" panose="02010600030101010101" pitchFamily="2" charset="-122"/>
                </a:endParaRPr>
              </a:p>
            </p:txBody>
          </p:sp>
        </mc:Choice>
        <mc:Fallback>
          <p:sp>
            <p:nvSpPr>
              <p:cNvPr id="63" name="Text 35">
                <a:extLst>
                  <a:ext uri="{FF2B5EF4-FFF2-40B4-BE49-F238E27FC236}">
                    <a16:creationId xmlns:a16="http://schemas.microsoft.com/office/drawing/2014/main" id="{0DCD1E06-B045-FB63-FC92-9FEC07D298F8}"/>
                  </a:ext>
                </a:extLst>
              </p:cNvPr>
              <p:cNvSpPr>
                <a:spLocks noRot="1" noChangeAspect="1" noMove="1" noResize="1" noEditPoints="1" noAdjustHandles="1" noChangeArrowheads="1" noChangeShapeType="1" noTextEdit="1"/>
              </p:cNvSpPr>
              <p:nvPr/>
            </p:nvSpPr>
            <p:spPr>
              <a:xfrm>
                <a:off x="8448164" y="3023764"/>
                <a:ext cx="2514600" cy="1411745"/>
              </a:xfrm>
              <a:prstGeom prst="rect">
                <a:avLst/>
              </a:prstGeom>
              <a:blipFill>
                <a:blip r:embed="rId3"/>
                <a:stretch>
                  <a:fillRect l="-503" r="-503"/>
                </a:stretch>
              </a:blipFill>
              <a:ln/>
            </p:spPr>
            <p:txBody>
              <a:bodyPr/>
              <a:lstStyle/>
              <a:p>
                <a:r>
                  <a:rPr lang="en-CN">
                    <a:noFill/>
                  </a:rPr>
                  <a:t> </a:t>
                </a:r>
              </a:p>
            </p:txBody>
          </p:sp>
        </mc:Fallback>
      </mc:AlternateContent>
      <p:sp>
        <p:nvSpPr>
          <p:cNvPr id="64" name="Shape 36">
            <a:extLst>
              <a:ext uri="{FF2B5EF4-FFF2-40B4-BE49-F238E27FC236}">
                <a16:creationId xmlns:a16="http://schemas.microsoft.com/office/drawing/2014/main" id="{3B8A1788-1EFE-7DAE-3851-8276E71222F5}"/>
              </a:ext>
            </a:extLst>
          </p:cNvPr>
          <p:cNvSpPr/>
          <p:nvPr/>
        </p:nvSpPr>
        <p:spPr>
          <a:xfrm>
            <a:off x="9732338" y="4508662"/>
            <a:ext cx="0" cy="539496"/>
          </a:xfrm>
          <a:prstGeom prst="line">
            <a:avLst/>
          </a:prstGeom>
          <a:noFill/>
          <a:ln w="19050">
            <a:solidFill>
              <a:srgbClr val="8C1D40"/>
            </a:solidFill>
            <a:prstDash val="solid"/>
            <a:tailEnd type="triangle"/>
          </a:ln>
        </p:spPr>
      </p:sp>
      <p:sp>
        <p:nvSpPr>
          <p:cNvPr id="65" name="Shape 37">
            <a:extLst>
              <a:ext uri="{FF2B5EF4-FFF2-40B4-BE49-F238E27FC236}">
                <a16:creationId xmlns:a16="http://schemas.microsoft.com/office/drawing/2014/main" id="{7439171F-0A34-02D3-F90E-451717EB1385}"/>
              </a:ext>
            </a:extLst>
          </p:cNvPr>
          <p:cNvSpPr/>
          <p:nvPr/>
        </p:nvSpPr>
        <p:spPr>
          <a:xfrm>
            <a:off x="8383598" y="5081381"/>
            <a:ext cx="2697480" cy="804672"/>
          </a:xfrm>
          <a:prstGeom prst="roundRect">
            <a:avLst>
              <a:gd name="adj" fmla="val 9091"/>
            </a:avLst>
          </a:prstGeom>
          <a:solidFill>
            <a:srgbClr val="FFFDF7"/>
          </a:solidFill>
          <a:ln w="12700">
            <a:solidFill>
              <a:srgbClr val="8C1D40"/>
            </a:solidFill>
            <a:prstDash val="solid"/>
          </a:ln>
        </p:spPr>
      </p:sp>
      <p:sp>
        <p:nvSpPr>
          <p:cNvPr id="66" name="Text 38">
            <a:extLst>
              <a:ext uri="{FF2B5EF4-FFF2-40B4-BE49-F238E27FC236}">
                <a16:creationId xmlns:a16="http://schemas.microsoft.com/office/drawing/2014/main" id="{344E9785-9ADF-A483-CF3F-0B5D05C8DADA}"/>
              </a:ext>
            </a:extLst>
          </p:cNvPr>
          <p:cNvSpPr/>
          <p:nvPr/>
        </p:nvSpPr>
        <p:spPr>
          <a:xfrm>
            <a:off x="8448164" y="5154533"/>
            <a:ext cx="2514600" cy="658368"/>
          </a:xfrm>
          <a:prstGeom prst="rect">
            <a:avLst/>
          </a:prstGeom>
          <a:noFill/>
          <a:ln/>
        </p:spPr>
        <p:txBody>
          <a:bodyPr wrap="square" lIns="254" tIns="254" rIns="254" bIns="254" rtlCol="0" anchor="ctr">
            <a:normAutofit/>
          </a:bodyPr>
          <a:lstStyle/>
          <a:p>
            <a:pPr marL="0" indent="0" algn="ctr">
              <a:buNone/>
            </a:pPr>
            <a:r>
              <a:rPr lang="en-US" sz="1250" b="1" dirty="0" err="1">
                <a:solidFill>
                  <a:srgbClr val="8C1D40"/>
                </a:solidFill>
                <a:latin typeface="SimSun" panose="02010600030101010101" pitchFamily="2" charset="-122"/>
                <a:ea typeface="SimSun" panose="02010600030101010101" pitchFamily="2" charset="-122"/>
                <a:cs typeface="Noto Sans CJK SC" pitchFamily="34" charset="-120"/>
              </a:rPr>
              <a:t>predictied</a:t>
            </a:r>
            <a:r>
              <a:rPr lang="en-US" sz="1250" b="1" dirty="0">
                <a:solidFill>
                  <a:srgbClr val="8C1D40"/>
                </a:solidFill>
                <a:latin typeface="SimSun" panose="02010600030101010101" pitchFamily="2" charset="-122"/>
                <a:ea typeface="SimSun" panose="02010600030101010101" pitchFamily="2" charset="-122"/>
                <a:cs typeface="Noto Sans CJK SC" pitchFamily="34" charset="-120"/>
              </a:rPr>
              <a:t> equity value</a:t>
            </a:r>
            <a:endParaRPr lang="en-US" sz="1250" dirty="0">
              <a:latin typeface="SimSun" panose="02010600030101010101" pitchFamily="2" charset="-122"/>
              <a:ea typeface="SimSun" panose="02010600030101010101" pitchFamily="2" charset="-122"/>
            </a:endParaRPr>
          </a:p>
          <a:p>
            <a:pPr marL="0" indent="0" algn="ctr">
              <a:buNone/>
            </a:pPr>
            <a:r>
              <a:rPr lang="en-US" sz="1250" b="1" dirty="0">
                <a:solidFill>
                  <a:srgbClr val="8C1D40"/>
                </a:solidFill>
                <a:latin typeface="SimSun" panose="02010600030101010101" pitchFamily="2" charset="-122"/>
                <a:ea typeface="SimSun" panose="02010600030101010101" pitchFamily="2" charset="-122"/>
                <a:cs typeface="Noto Sans CJK SC" pitchFamily="34" charset="-120"/>
              </a:rPr>
              <a:t>vs. actual market cap</a:t>
            </a:r>
            <a:endParaRPr lang="en-US" sz="1250" dirty="0">
              <a:latin typeface="SimSun" panose="02010600030101010101" pitchFamily="2" charset="-122"/>
              <a:ea typeface="SimSun" panose="02010600030101010101" pitchFamily="2" charset="-122"/>
            </a:endParaRPr>
          </a:p>
        </p:txBody>
      </p:sp>
      <p:sp>
        <p:nvSpPr>
          <p:cNvPr id="67" name="Text 39">
            <a:extLst>
              <a:ext uri="{FF2B5EF4-FFF2-40B4-BE49-F238E27FC236}">
                <a16:creationId xmlns:a16="http://schemas.microsoft.com/office/drawing/2014/main" id="{1F8F3FB0-F449-2AE4-57A8-377EEDAB82CA}"/>
              </a:ext>
            </a:extLst>
          </p:cNvPr>
          <p:cNvSpPr/>
          <p:nvPr/>
        </p:nvSpPr>
        <p:spPr>
          <a:xfrm>
            <a:off x="913508" y="5081381"/>
            <a:ext cx="6884414" cy="804665"/>
          </a:xfrm>
          <a:prstGeom prst="rect">
            <a:avLst/>
          </a:prstGeom>
          <a:noFill/>
          <a:ln/>
        </p:spPr>
        <p:txBody>
          <a:bodyPr wrap="square" lIns="0" tIns="0" rIns="0" bIns="0" rtlCol="0" anchor="ctr">
            <a:normAutofit/>
          </a:bodyPr>
          <a:lstStyle/>
          <a:p>
            <a:pPr marL="0" indent="0">
              <a:buNone/>
            </a:pPr>
            <a:r>
              <a:rPr lang="en-US" sz="2000" b="1" dirty="0" err="1">
                <a:solidFill>
                  <a:srgbClr val="8C1D40"/>
                </a:solidFill>
                <a:latin typeface="SimSun" panose="02010600030101010101" pitchFamily="2" charset="-122"/>
                <a:ea typeface="SimSun" panose="02010600030101010101" pitchFamily="2" charset="-122"/>
                <a:cs typeface="Noto Sans CJK SC" pitchFamily="34" charset="-120"/>
              </a:rPr>
              <a:t>输出</a:t>
            </a:r>
            <a:r>
              <a:rPr lang="en-US" sz="2000" b="1" dirty="0">
                <a:solidFill>
                  <a:srgbClr val="8C1D40"/>
                </a:solidFill>
                <a:latin typeface="SimSun" panose="02010600030101010101" pitchFamily="2" charset="-122"/>
                <a:ea typeface="SimSun" panose="02010600030101010101" pitchFamily="2" charset="-122"/>
                <a:cs typeface="Noto Sans CJK SC" pitchFamily="34" charset="-120"/>
              </a:rPr>
              <a:t>：</a:t>
            </a:r>
            <a:r>
              <a:rPr lang="ko-KR" altLang="en-US" sz="2000" b="1" dirty="0">
                <a:solidFill>
                  <a:srgbClr val="8C1D40"/>
                </a:solidFill>
                <a:latin typeface="SimSun" panose="02010600030101010101" pitchFamily="2" charset="-122"/>
                <a:ea typeface="SimSun" panose="02010600030101010101" pitchFamily="2" charset="-122"/>
                <a:cs typeface="Noto Sans CJK SC" pitchFamily="34" charset="-120"/>
              </a:rPr>
              <a:t>  </a:t>
            </a:r>
            <a:r>
              <a:rPr lang="en-US" sz="2000" b="1" dirty="0">
                <a:solidFill>
                  <a:srgbClr val="8C1D40"/>
                </a:solidFill>
                <a:latin typeface="SimSun" panose="02010600030101010101" pitchFamily="2" charset="-122"/>
                <a:ea typeface="SimSun" panose="02010600030101010101" pitchFamily="2" charset="-122"/>
                <a:cs typeface="Noto Sans CJK SC" pitchFamily="34" charset="-120"/>
              </a:rPr>
              <a:t>undervalued / overvalued signal + confidence</a:t>
            </a:r>
            <a:endParaRPr lang="en-US" sz="20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1362018537"/>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411</Words>
  <Application>Microsoft Macintosh PowerPoint</Application>
  <PresentationFormat>Widescreen</PresentationFormat>
  <Paragraphs>125</Paragraphs>
  <Slides>6</Slides>
  <Notes>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vt:i4>
      </vt:variant>
    </vt:vector>
  </HeadingPairs>
  <TitlesOfParts>
    <vt:vector size="15" baseType="lpstr">
      <vt:lpstr>等线</vt:lpstr>
      <vt:lpstr>微软雅黑</vt:lpstr>
      <vt:lpstr>SimSun</vt:lpstr>
      <vt:lpstr>STKaiti</vt:lpstr>
      <vt:lpstr>Arial</vt:lpstr>
      <vt:lpstr>Cambria Math</vt:lpstr>
      <vt:lpstr>自定义设计方案</vt:lpstr>
      <vt:lpstr>1_自定义设计方案</vt:lpstr>
      <vt:lpstr>1_OfficePLUS</vt:lpstr>
      <vt:lpstr>PowerPoint Presentation</vt:lpstr>
      <vt:lpstr>1. 自动化相对估值流程</vt:lpstr>
      <vt:lpstr>Step 1：Comparable Company Selection</vt:lpstr>
      <vt:lpstr>Step 2：Multiple Selection</vt:lpstr>
      <vt:lpstr>Step 3：Market-implied Multiple Prediction</vt:lpstr>
      <vt:lpstr>模型预测与可比公司市场倍数结合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#我给母校送模板#</dc:title>
  <dc:creator>田 振宇</dc:creator>
  <cp:keywords>51PPT模板网</cp:keywords>
  <cp:lastModifiedBy>재혁 심</cp:lastModifiedBy>
  <cp:revision>273</cp:revision>
  <dcterms:created xsi:type="dcterms:W3CDTF">2018-12-09T14:29:00Z</dcterms:created>
  <dcterms:modified xsi:type="dcterms:W3CDTF">2026-06-10T15:32:49Z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2052-11.1.0.9192</vt:lpwstr>
  </property>
</Properties>
</file>